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172593"/>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000000"/>
                </a:solidFill>
                <a:latin typeface="Inter Bold" pitchFamily="34" charset="0"/>
                <a:ea typeface="Inter Bold" pitchFamily="34" charset="-122"/>
                <a:cs typeface="Inter Bold" pitchFamily="34" charset="-120"/>
              </a:rPr>
              <a:t>Style.css: Historia y Evolución en HTML</a:t>
            </a:r>
            <a:endParaRPr lang="en-US" sz="3250" dirty="0"/>
          </a:p>
        </p:txBody>
      </p:sp>
      <p:sp>
        <p:nvSpPr>
          <p:cNvPr id="4" name="Text 1"/>
          <p:cNvSpPr/>
          <p:nvPr/>
        </p:nvSpPr>
        <p:spPr>
          <a:xfrm>
            <a:off x="5233360" y="3454102"/>
            <a:ext cx="629686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Un recorrido por el lenguaje que transformó el diseño web: desde la necesidad de separar contenido y presentación hasta las modernas especificaciones que permiten crear experiencias digitales impactantes.</a:t>
            </a:r>
            <a:endParaRPr lang="en-US" sz="1300" dirty="0"/>
          </a:p>
        </p:txBody>
      </p:sp>
      <p:sp>
        <p:nvSpPr>
          <p:cNvPr id="5" name="Shape 2"/>
          <p:cNvSpPr/>
          <p:nvPr/>
        </p:nvSpPr>
        <p:spPr>
          <a:xfrm>
            <a:off x="5233360" y="4433987"/>
            <a:ext cx="853161" cy="251420"/>
          </a:xfrm>
          <a:prstGeom prst="roundRect">
            <a:avLst>
              <a:gd name="adj" fmla="val 22103"/>
            </a:avLst>
          </a:prstGeom>
          <a:solidFill>
            <a:srgbClr val="DADBF1"/>
          </a:solidFill>
          <a:ln/>
        </p:spPr>
      </p:sp>
      <p:pic>
        <p:nvPicPr>
          <p:cNvPr id="6" name="Image 1" descr="preencoded.png">    </p:cNvPr>
          <p:cNvPicPr>
            <a:picLocks noChangeAspect="1"/>
          </p:cNvPicPr>
          <p:nvPr/>
        </p:nvPicPr>
        <p:blipFill>
          <a:blip r:embed="rId2"/>
          <a:stretch>
            <a:fillRect/>
          </a:stretch>
        </p:blipFill>
        <p:spPr>
          <a:xfrm>
            <a:off x="5332577" y="4493518"/>
            <a:ext cx="132255" cy="132259"/>
          </a:xfrm>
          <a:prstGeom prst="rect">
            <a:avLst/>
          </a:prstGeom>
        </p:spPr>
      </p:pic>
      <p:sp>
        <p:nvSpPr>
          <p:cNvPr id="7" name="Text 3"/>
          <p:cNvSpPr/>
          <p:nvPr/>
        </p:nvSpPr>
        <p:spPr>
          <a:xfrm>
            <a:off x="5530910" y="4483596"/>
            <a:ext cx="1065980" cy="152202"/>
          </a:xfrm>
          <a:prstGeom prst="rect">
            <a:avLst/>
          </a:prstGeom>
          <a:noFill/>
          <a:ln/>
        </p:spPr>
        <p:txBody>
          <a:bodyPr wrap="none" lIns="0" tIns="0" rIns="0" bIns="0" rtlCol="0" anchor="t"/>
          <a:lstStyle/>
          <a:p>
            <a:pPr algn="l" indent="0" marL="0">
              <a:lnSpc>
                <a:spcPct val="96000"/>
              </a:lnSpc>
              <a:buNone/>
            </a:pPr>
            <a:r>
              <a:rPr lang="en-US" sz="1000" dirty="0">
                <a:solidFill>
                  <a:srgbClr val="272525"/>
                </a:solidFill>
                <a:latin typeface="Inter" pitchFamily="34" charset="0"/>
                <a:ea typeface="Inter" pitchFamily="34" charset="-122"/>
                <a:cs typeface="Inter" pitchFamily="34" charset="-120"/>
              </a:rPr>
              <a:t>HTML5</a:t>
            </a:r>
            <a:endParaRPr lang="en-US" sz="1000" dirty="0"/>
          </a:p>
        </p:txBody>
      </p:sp>
      <p:sp>
        <p:nvSpPr>
          <p:cNvPr id="8" name="Shape 4"/>
          <p:cNvSpPr/>
          <p:nvPr/>
        </p:nvSpPr>
        <p:spPr>
          <a:xfrm>
            <a:off x="6169168" y="4433987"/>
            <a:ext cx="744817" cy="251420"/>
          </a:xfrm>
          <a:prstGeom prst="roundRect">
            <a:avLst>
              <a:gd name="adj" fmla="val 22103"/>
            </a:avLst>
          </a:prstGeom>
          <a:noFill/>
          <a:ln w="6350">
            <a:solidFill>
              <a:srgbClr val="4950BC"/>
            </a:solidFill>
            <a:prstDash val="solid"/>
          </a:ln>
        </p:spPr>
      </p:sp>
      <p:pic>
        <p:nvPicPr>
          <p:cNvPr id="9" name="Image 2" descr="preencoded.png">    </p:cNvPr>
          <p:cNvPicPr>
            <a:picLocks noChangeAspect="1"/>
          </p:cNvPicPr>
          <p:nvPr/>
        </p:nvPicPr>
        <p:blipFill>
          <a:blip r:embed="rId3"/>
          <a:stretch>
            <a:fillRect/>
          </a:stretch>
        </p:blipFill>
        <p:spPr>
          <a:xfrm>
            <a:off x="6268385" y="4493518"/>
            <a:ext cx="132255" cy="132259"/>
          </a:xfrm>
          <a:prstGeom prst="rect">
            <a:avLst/>
          </a:prstGeom>
        </p:spPr>
      </p:pic>
      <p:sp>
        <p:nvSpPr>
          <p:cNvPr id="10" name="Text 5"/>
          <p:cNvSpPr/>
          <p:nvPr/>
        </p:nvSpPr>
        <p:spPr>
          <a:xfrm>
            <a:off x="6466718" y="4483596"/>
            <a:ext cx="957635" cy="152202"/>
          </a:xfrm>
          <a:prstGeom prst="rect">
            <a:avLst/>
          </a:prstGeom>
          <a:noFill/>
          <a:ln/>
        </p:spPr>
        <p:txBody>
          <a:bodyPr wrap="none" lIns="0" tIns="0" rIns="0" bIns="0" rtlCol="0" anchor="t"/>
          <a:lstStyle/>
          <a:p>
            <a:pPr algn="l" indent="0" marL="0">
              <a:lnSpc>
                <a:spcPct val="96000"/>
              </a:lnSpc>
              <a:buNone/>
            </a:pPr>
            <a:r>
              <a:rPr lang="en-US" sz="1000" dirty="0">
                <a:solidFill>
                  <a:srgbClr val="4950BC"/>
                </a:solidFill>
                <a:latin typeface="Inter" pitchFamily="34" charset="0"/>
                <a:ea typeface="Inter" pitchFamily="34" charset="-122"/>
                <a:cs typeface="Inter" pitchFamily="34" charset="-120"/>
              </a:rPr>
              <a:t>CSS3</a:t>
            </a:r>
            <a:endParaRPr lang="en-US" sz="1000" dirty="0"/>
          </a:p>
        </p:txBody>
      </p:sp>
      <p:sp>
        <p:nvSpPr>
          <p:cNvPr id="11" name="Shape 6"/>
          <p:cNvSpPr/>
          <p:nvPr/>
        </p:nvSpPr>
        <p:spPr>
          <a:xfrm>
            <a:off x="6996632" y="4433987"/>
            <a:ext cx="1963292" cy="251420"/>
          </a:xfrm>
          <a:prstGeom prst="roundRect">
            <a:avLst>
              <a:gd name="adj" fmla="val 22103"/>
            </a:avLst>
          </a:prstGeom>
          <a:noFill/>
          <a:ln w="6350">
            <a:solidFill>
              <a:srgbClr val="4950BC"/>
            </a:solidFill>
            <a:prstDash val="solid"/>
          </a:ln>
        </p:spPr>
      </p:sp>
      <p:sp>
        <p:nvSpPr>
          <p:cNvPr id="12" name="Text 7"/>
          <p:cNvSpPr/>
          <p:nvPr/>
        </p:nvSpPr>
        <p:spPr>
          <a:xfrm>
            <a:off x="7095848" y="4483596"/>
            <a:ext cx="2374444" cy="152202"/>
          </a:xfrm>
          <a:prstGeom prst="rect">
            <a:avLst/>
          </a:prstGeom>
          <a:noFill/>
          <a:ln/>
        </p:spPr>
        <p:txBody>
          <a:bodyPr wrap="none" lIns="0" tIns="0" rIns="0" bIns="0" rtlCol="0" anchor="t"/>
          <a:lstStyle/>
          <a:p>
            <a:pPr algn="l" indent="0" marL="0">
              <a:lnSpc>
                <a:spcPct val="96000"/>
              </a:lnSpc>
              <a:buNone/>
            </a:pPr>
            <a:r>
              <a:rPr lang="en-US" sz="1000" dirty="0">
                <a:solidFill>
                  <a:srgbClr val="4950BC"/>
                </a:solidFill>
                <a:latin typeface="Inter" pitchFamily="34" charset="0"/>
                <a:ea typeface="Inter" pitchFamily="34" charset="-122"/>
                <a:cs typeface="Inter" pitchFamily="34" charset="-120"/>
              </a:rPr>
              <a:t>SENA — DESARROLLO WEB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663079"/>
            <a:ext cx="10868745" cy="981869"/>
          </a:xfrm>
          <a:prstGeom prst="rect">
            <a:avLst/>
          </a:prstGeom>
          <a:noFill/>
          <a:ln/>
        </p:spPr>
        <p:txBody>
          <a:bodyPr wrap="square" lIns="0" tIns="0" rIns="0" bIns="0" rtlCol="0" anchor="t">
            <a:normAutofit/>
          </a:bodyPr>
          <a:lstStyle/>
          <a:p>
            <a:pPr algn="l" indent="0" marL="0">
              <a:lnSpc>
                <a:spcPct val="104000"/>
              </a:lnSpc>
              <a:buNone/>
            </a:pPr>
            <a:r>
              <a:rPr lang="en-US" sz="3050" b="1" dirty="0">
                <a:solidFill>
                  <a:srgbClr val="000000"/>
                </a:solidFill>
                <a:latin typeface="Inter Bold" pitchFamily="34" charset="0"/>
                <a:ea typeface="Inter Bold" pitchFamily="34" charset="-122"/>
                <a:cs typeface="Inter Bold" pitchFamily="34" charset="-120"/>
              </a:rPr>
              <a:t>Orígenes de CSS: El Problema de Mezclar Contenido y Diseño</a:t>
            </a:r>
            <a:endParaRPr lang="en-US" sz="3050" dirty="0"/>
          </a:p>
        </p:txBody>
      </p:sp>
      <p:sp>
        <p:nvSpPr>
          <p:cNvPr id="3" name="Text 1"/>
          <p:cNvSpPr/>
          <p:nvPr/>
        </p:nvSpPr>
        <p:spPr>
          <a:xfrm>
            <a:off x="661475" y="1943398"/>
            <a:ext cx="10868745"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En los primeros años de la web (1991–1994), el HTML era el único lenguaje disponible para crear páginas. Sin embargo, el HTML fue diseñado originalmente para </a:t>
            </a:r>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estructurar documentos</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no para darles estilo visual. Los desarrolladores se vieron obligados a usar etiquetas HTML con propósitos para los que nunca fueron pensadas.</a:t>
            </a:r>
            <a:endParaRPr lang="en-US" sz="1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46784"/>
            <a:ext cx="3523368" cy="3348137"/>
          </a:xfrm>
          <a:prstGeom prst="rect">
            <a:avLst/>
          </a:prstGeom>
        </p:spPr>
      </p:pic>
      <p:sp>
        <p:nvSpPr>
          <p:cNvPr id="5" name="Text 2"/>
          <p:cNvSpPr/>
          <p:nvPr/>
        </p:nvSpPr>
        <p:spPr>
          <a:xfrm>
            <a:off x="913782" y="3022898"/>
            <a:ext cx="3094952" cy="491133"/>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El caos del diseño en los años 90</a:t>
            </a:r>
            <a:endParaRPr lang="en-US" sz="1500" dirty="0"/>
          </a:p>
        </p:txBody>
      </p:sp>
      <p:sp>
        <p:nvSpPr>
          <p:cNvPr id="6" name="Text 3"/>
          <p:cNvSpPr/>
          <p:nvPr/>
        </p:nvSpPr>
        <p:spPr>
          <a:xfrm>
            <a:off x="913782" y="3603526"/>
            <a:ext cx="3094952" cy="2206526"/>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Para cambiar colores, fuentes o espaciados, los desarrolladores recurrían a etiquetas como </a:t>
            </a:r>
            <a:pPr algn="l" indent="0" marL="0">
              <a:lnSpc>
                <a:spcPct val="13000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&lt;font&gt;</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a:t>
            </a:r>
            <a:pPr algn="l" indent="0" marL="0">
              <a:lnSpc>
                <a:spcPct val="130000"/>
              </a:lnSpc>
              <a:buNone/>
            </a:pPr>
            <a:r>
              <a:rPr lang="en-US" sz="1200" dirty="0">
                <a:solidFill>
                  <a:srgbClr val="272525"/>
                </a:solidFill>
                <a:highlight>
                  <a:srgbClr val="F2F2F2"/>
                </a:highlight>
                <a:latin typeface="Consolas" pitchFamily="34" charset="0"/>
                <a:ea typeface="Consolas" pitchFamily="34" charset="-122"/>
                <a:cs typeface="Consolas" pitchFamily="34" charset="-120"/>
              </a:rPr>
              <a:t>&lt;center&gt;</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o tablas anidadas. Esto generaba código sucio, difícil de mantener y que mezclaba la estructura semántica del documento con su apariencia visual. Cada página era un mosaico de decisiones de diseño incrustadas directamente en el HTML.</a:t>
            </a:r>
            <a:endParaRPr lang="en-US" sz="12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4064" y="2846784"/>
            <a:ext cx="3523467" cy="3348137"/>
          </a:xfrm>
          <a:prstGeom prst="rect">
            <a:avLst/>
          </a:prstGeom>
        </p:spPr>
      </p:pic>
      <p:sp>
        <p:nvSpPr>
          <p:cNvPr id="8" name="Text 4"/>
          <p:cNvSpPr/>
          <p:nvPr/>
        </p:nvSpPr>
        <p:spPr>
          <a:xfrm>
            <a:off x="4586371" y="3022898"/>
            <a:ext cx="3095051" cy="245566"/>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La necesidad de una solución</a:t>
            </a:r>
            <a:endParaRPr lang="en-US" sz="1500" dirty="0"/>
          </a:p>
        </p:txBody>
      </p:sp>
      <p:sp>
        <p:nvSpPr>
          <p:cNvPr id="9" name="Text 5"/>
          <p:cNvSpPr/>
          <p:nvPr/>
        </p:nvSpPr>
        <p:spPr>
          <a:xfrm>
            <a:off x="4586371" y="3357959"/>
            <a:ext cx="3095051" cy="2451695"/>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Con el crecimiento exponencial de la web, quedó claro que se necesitaba un mecanismo independiente para controlar la presentación sin contaminar el contenido. Los navegadores como Mosaic y Netscape Navigator añadían extensiones propietarias incompatibles entre sí, fragmentando aún más el ecosistema. La comunidad técnica demandaba un estándar unificado.</a:t>
            </a:r>
            <a:endParaRPr lang="en-US" sz="12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6753" y="2846784"/>
            <a:ext cx="3523368" cy="3348137"/>
          </a:xfrm>
          <a:prstGeom prst="rect">
            <a:avLst/>
          </a:prstGeom>
        </p:spPr>
      </p:pic>
      <p:sp>
        <p:nvSpPr>
          <p:cNvPr id="11" name="Text 6"/>
          <p:cNvSpPr/>
          <p:nvPr/>
        </p:nvSpPr>
        <p:spPr>
          <a:xfrm>
            <a:off x="8259060" y="3022898"/>
            <a:ext cx="3094952" cy="491133"/>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272525"/>
                </a:solidFill>
                <a:latin typeface="Inter Bold" pitchFamily="34" charset="0"/>
                <a:ea typeface="Inter Bold" pitchFamily="34" charset="-122"/>
                <a:cs typeface="Inter Bold" pitchFamily="34" charset="-120"/>
              </a:rPr>
              <a:t>Las consecuencias del problema</a:t>
            </a:r>
            <a:endParaRPr lang="en-US" sz="1500" dirty="0"/>
          </a:p>
        </p:txBody>
      </p:sp>
      <p:sp>
        <p:nvSpPr>
          <p:cNvPr id="12" name="Text 7"/>
          <p:cNvSpPr/>
          <p:nvPr/>
        </p:nvSpPr>
        <p:spPr>
          <a:xfrm>
            <a:off x="8259060" y="3603526"/>
            <a:ext cx="3094952" cy="2415282"/>
          </a:xfrm>
          <a:prstGeom prst="rect">
            <a:avLst/>
          </a:prstGeom>
          <a:noFill/>
          <a:ln/>
        </p:spPr>
        <p:txBody>
          <a:bodyPr wrap="square" lIns="0" tIns="0" rIns="0" bIns="0" rtlCol="0" anchor="t">
            <a:normAutofit/>
          </a:bodyPr>
          <a:lstStyle/>
          <a:p>
            <a:pPr algn="l" marL="243840" indent="-243840">
              <a:lnSpc>
                <a:spcPct val="130000"/>
              </a:lnSpc>
              <a:buSzPct val="100000"/>
              <a:buChar char="•"/>
            </a:pPr>
            <a:r>
              <a:rPr lang="en-US" sz="1200" dirty="0">
                <a:solidFill>
                  <a:srgbClr val="272525"/>
                </a:solidFill>
                <a:latin typeface="Inter" pitchFamily="34" charset="0"/>
                <a:ea typeface="Inter" pitchFamily="34" charset="-122"/>
                <a:cs typeface="Inter" pitchFamily="34" charset="-120"/>
              </a:rPr>
              <a:t>Código HTML ilegible y difícil de mantener</a:t>
            </a:r>
            <a:endParaRPr lang="en-US" sz="1200" dirty="0"/>
          </a:p>
          <a:p>
            <a:pPr algn="l" marL="243840" indent="-243840">
              <a:lnSpc>
                <a:spcPct val="130000"/>
              </a:lnSpc>
              <a:buSzPct val="100000"/>
              <a:buChar char="•"/>
            </a:pPr>
            <a:r>
              <a:rPr lang="en-US" sz="1200" dirty="0">
                <a:solidFill>
                  <a:srgbClr val="272525"/>
                </a:solidFill>
                <a:latin typeface="Inter" pitchFamily="34" charset="0"/>
                <a:ea typeface="Inter" pitchFamily="34" charset="-122"/>
                <a:cs typeface="Inter" pitchFamily="34" charset="-120"/>
              </a:rPr>
              <a:t>Sitios web inconsistentes entre navegadores</a:t>
            </a:r>
            <a:endParaRPr lang="en-US" sz="1200" dirty="0"/>
          </a:p>
          <a:p>
            <a:pPr algn="l" marL="243840" indent="-243840">
              <a:lnSpc>
                <a:spcPct val="130000"/>
              </a:lnSpc>
              <a:buSzPct val="100000"/>
              <a:buChar char="•"/>
            </a:pPr>
            <a:r>
              <a:rPr lang="en-US" sz="1200" dirty="0">
                <a:solidFill>
                  <a:srgbClr val="272525"/>
                </a:solidFill>
                <a:latin typeface="Inter" pitchFamily="34" charset="0"/>
                <a:ea typeface="Inter" pitchFamily="34" charset="-122"/>
                <a:cs typeface="Inter" pitchFamily="34" charset="-120"/>
              </a:rPr>
              <a:t>Imposibilidad de reutilizar estilos entre páginas</a:t>
            </a:r>
            <a:endParaRPr lang="en-US" sz="1200" dirty="0"/>
          </a:p>
          <a:p>
            <a:pPr algn="l" marL="243840" indent="-243840">
              <a:lnSpc>
                <a:spcPct val="130000"/>
              </a:lnSpc>
              <a:buSzPct val="100000"/>
              <a:buChar char="•"/>
            </a:pPr>
            <a:r>
              <a:rPr lang="en-US" sz="1200" dirty="0">
                <a:solidFill>
                  <a:srgbClr val="272525"/>
                </a:solidFill>
                <a:latin typeface="Inter" pitchFamily="34" charset="0"/>
                <a:ea typeface="Inter" pitchFamily="34" charset="-122"/>
                <a:cs typeface="Inter" pitchFamily="34" charset="-120"/>
              </a:rPr>
              <a:t>Alto costo de actualización y rediseño</a:t>
            </a:r>
            <a:endParaRPr lang="en-US" sz="1200" dirty="0"/>
          </a:p>
          <a:p>
            <a:pPr algn="l" marL="243840" indent="-243840">
              <a:lnSpc>
                <a:spcPct val="130000"/>
              </a:lnSpc>
              <a:buSzPct val="100000"/>
              <a:buChar char="•"/>
            </a:pPr>
            <a:r>
              <a:rPr lang="en-US" sz="1200" dirty="0">
                <a:solidFill>
                  <a:srgbClr val="272525"/>
                </a:solidFill>
                <a:latin typeface="Inter" pitchFamily="34" charset="0"/>
                <a:ea typeface="Inter" pitchFamily="34" charset="-122"/>
                <a:cs typeface="Inter" pitchFamily="34" charset="-120"/>
              </a:rPr>
              <a:t>Falta de accesibilidad y semántica clara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98091"/>
            <a:ext cx="10868745" cy="450552"/>
          </a:xfrm>
          <a:prstGeom prst="rect">
            <a:avLst/>
          </a:prstGeom>
          <a:noFill/>
          <a:ln/>
        </p:spPr>
        <p:txBody>
          <a:bodyPr wrap="none" lIns="0" tIns="0" rIns="0" bIns="0" rtlCol="0" anchor="t"/>
          <a:lstStyle/>
          <a:p>
            <a:pPr algn="l" indent="0" marL="0">
              <a:lnSpc>
                <a:spcPct val="104000"/>
              </a:lnSpc>
              <a:buNone/>
            </a:pPr>
            <a:r>
              <a:rPr lang="en-US" sz="2800" b="1" dirty="0">
                <a:solidFill>
                  <a:srgbClr val="000000"/>
                </a:solidFill>
                <a:latin typeface="Inter Bold" pitchFamily="34" charset="0"/>
                <a:ea typeface="Inter Bold" pitchFamily="34" charset="-122"/>
                <a:cs typeface="Inter Bold" pitchFamily="34" charset="-120"/>
              </a:rPr>
              <a:t>Håkon Wium Lie y Bert Bos: Los Creadores de CSS</a:t>
            </a:r>
            <a:endParaRPr lang="en-US" sz="2800" dirty="0"/>
          </a:p>
        </p:txBody>
      </p:sp>
      <p:pic>
        <p:nvPicPr>
          <p:cNvPr id="3" name="Image 0" descr="preencoded.png">    </p:cNvPr>
          <p:cNvPicPr>
            <a:picLocks noChangeAspect="1"/>
          </p:cNvPicPr>
          <p:nvPr/>
        </p:nvPicPr>
        <p:blipFill>
          <a:blip r:embed="rId1"/>
          <a:stretch>
            <a:fillRect/>
          </a:stretch>
        </p:blipFill>
        <p:spPr>
          <a:xfrm>
            <a:off x="661475" y="1378545"/>
            <a:ext cx="3722694" cy="2481163"/>
          </a:xfrm>
          <a:prstGeom prst="rect">
            <a:avLst/>
          </a:prstGeom>
        </p:spPr>
      </p:pic>
      <p:sp>
        <p:nvSpPr>
          <p:cNvPr id="4" name="Text 1"/>
          <p:cNvSpPr/>
          <p:nvPr/>
        </p:nvSpPr>
        <p:spPr>
          <a:xfrm>
            <a:off x="5155972" y="1362869"/>
            <a:ext cx="6380499"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La propuesta original de 1994</a:t>
            </a:r>
            <a:endParaRPr lang="en-US" sz="1400" dirty="0"/>
          </a:p>
        </p:txBody>
      </p:sp>
      <p:sp>
        <p:nvSpPr>
          <p:cNvPr id="5" name="Text 2"/>
          <p:cNvSpPr/>
          <p:nvPr/>
        </p:nvSpPr>
        <p:spPr>
          <a:xfrm>
            <a:off x="5155972" y="1713905"/>
            <a:ext cx="6380499" cy="1623715"/>
          </a:xfrm>
          <a:prstGeom prst="rect">
            <a:avLst/>
          </a:prstGeom>
          <a:noFill/>
          <a:ln/>
        </p:spPr>
        <p:txBody>
          <a:bodyPr wrap="square" lIns="0" tIns="0" rIns="0" bIns="0" rtlCol="0" anchor="t">
            <a:normAutofit/>
          </a:bodyPr>
          <a:lstStyle/>
          <a:p>
            <a:pPr algn="l" indent="0" marL="0">
              <a:lnSpc>
                <a:spcPct val="125000"/>
              </a:lnSpc>
              <a:spcAft>
                <a:spcPts val="850"/>
              </a:spcAft>
              <a:buNone/>
            </a:pPr>
            <a:r>
              <a:rPr lang="en-US" sz="1100" dirty="0">
                <a:solidFill>
                  <a:srgbClr val="272525"/>
                </a:solidFill>
                <a:latin typeface="Inter" pitchFamily="34" charset="0"/>
                <a:ea typeface="Inter" pitchFamily="34" charset="-122"/>
                <a:cs typeface="Inter" pitchFamily="34" charset="-120"/>
              </a:rPr>
              <a:t>En octubre de 1994, </a:t>
            </a:r>
            <a:pPr algn="l" indent="0" marL="0">
              <a:lnSpc>
                <a:spcPct val="125000"/>
              </a:lnSpc>
              <a:spcAft>
                <a:spcPts val="850"/>
              </a:spcAft>
              <a:buNone/>
            </a:pPr>
            <a:r>
              <a:rPr lang="en-US" sz="1100" b="1" dirty="0">
                <a:solidFill>
                  <a:srgbClr val="272525"/>
                </a:solidFill>
                <a:latin typeface="Inter Bold" pitchFamily="34" charset="0"/>
                <a:ea typeface="Inter Bold" pitchFamily="34" charset="-122"/>
                <a:cs typeface="Inter Bold" pitchFamily="34" charset="-120"/>
              </a:rPr>
              <a:t>Håkon Wium Lie</a:t>
            </a:r>
            <a:pPr algn="l" indent="0" marL="0">
              <a:lnSpc>
                <a:spcPct val="125000"/>
              </a:lnSpc>
              <a:spcAft>
                <a:spcPts val="850"/>
              </a:spcAft>
              <a:buNone/>
            </a:pPr>
            <a:r>
              <a:rPr lang="en-US" sz="1100" dirty="0">
                <a:solidFill>
                  <a:srgbClr val="272525"/>
                </a:solidFill>
                <a:latin typeface="Inter" pitchFamily="34" charset="0"/>
                <a:ea typeface="Inter" pitchFamily="34" charset="-122"/>
                <a:cs typeface="Inter" pitchFamily="34" charset="-120"/>
              </a:rPr>
              <a:t>, trabajando junto a Tim Berners-Lee en el CERN, publicó la primera propuesta formal de </a:t>
            </a:r>
            <a:pPr algn="l" indent="0" marL="0">
              <a:lnSpc>
                <a:spcPct val="125000"/>
              </a:lnSpc>
              <a:spcAft>
                <a:spcPts val="850"/>
              </a:spcAft>
              <a:buNone/>
            </a:pPr>
            <a:r>
              <a:rPr lang="en-US" sz="1100" i="1" dirty="0">
                <a:solidFill>
                  <a:srgbClr val="272525"/>
                </a:solidFill>
                <a:latin typeface="Inter" pitchFamily="34" charset="0"/>
                <a:ea typeface="Inter" pitchFamily="34" charset="-122"/>
                <a:cs typeface="Inter" pitchFamily="34" charset="-120"/>
              </a:rPr>
              <a:t>Cascading Style Sheets</a:t>
            </a:r>
            <a:pPr algn="l" indent="0" marL="0">
              <a:lnSpc>
                <a:spcPct val="125000"/>
              </a:lnSpc>
              <a:spcAft>
                <a:spcPts val="850"/>
              </a:spcAft>
              <a:buNone/>
            </a:pPr>
            <a:r>
              <a:rPr lang="en-US" sz="1100" dirty="0">
                <a:solidFill>
                  <a:srgbClr val="272525"/>
                </a:solidFill>
                <a:latin typeface="Inter" pitchFamily="34" charset="0"/>
                <a:ea typeface="Inter" pitchFamily="34" charset="-122"/>
                <a:cs typeface="Inter" pitchFamily="34" charset="-120"/>
              </a:rPr>
              <a:t> (Hojas de Estilo en Cascada). Poco después, </a:t>
            </a:r>
            <a:pPr algn="l" indent="0" marL="0">
              <a:lnSpc>
                <a:spcPct val="125000"/>
              </a:lnSpc>
              <a:spcAft>
                <a:spcPts val="850"/>
              </a:spcAft>
              <a:buNone/>
            </a:pPr>
            <a:r>
              <a:rPr lang="en-US" sz="1100" b="1" dirty="0">
                <a:solidFill>
                  <a:srgbClr val="272525"/>
                </a:solidFill>
                <a:latin typeface="Inter Bold" pitchFamily="34" charset="0"/>
                <a:ea typeface="Inter Bold" pitchFamily="34" charset="-122"/>
                <a:cs typeface="Inter Bold" pitchFamily="34" charset="-120"/>
              </a:rPr>
              <a:t>Bert Bos</a:t>
            </a:r>
            <a:pPr algn="l" indent="0" marL="0">
              <a:lnSpc>
                <a:spcPct val="125000"/>
              </a:lnSpc>
              <a:spcAft>
                <a:spcPts val="850"/>
              </a:spcAft>
              <a:buNone/>
            </a:pPr>
            <a:r>
              <a:rPr lang="en-US" sz="1100" dirty="0">
                <a:solidFill>
                  <a:srgbClr val="272525"/>
                </a:solidFill>
                <a:latin typeface="Inter" pitchFamily="34" charset="0"/>
                <a:ea typeface="Inter" pitchFamily="34" charset="-122"/>
                <a:cs typeface="Inter" pitchFamily="34" charset="-120"/>
              </a:rPr>
              <a:t> se unió al proyecto aportando su experiencia en tipografía y diseño. Juntos definieron los fundamentos del lenguaje que hoy conocemos como CSS.</a:t>
            </a:r>
            <a:endParaRPr lang="en-US" sz="1100" dirty="0"/>
          </a:p>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Su idea central era revolucionaria pero sencilla: </a:t>
            </a:r>
            <a:pPr algn="l" indent="0" marL="0">
              <a:lnSpc>
                <a:spcPct val="125000"/>
              </a:lnSpc>
              <a:buNone/>
            </a:pPr>
            <a:r>
              <a:rPr lang="en-US" sz="1100" b="1" dirty="0">
                <a:solidFill>
                  <a:srgbClr val="272525"/>
                </a:solidFill>
                <a:latin typeface="Inter Bold" pitchFamily="34" charset="0"/>
                <a:ea typeface="Inter Bold" pitchFamily="34" charset="-122"/>
                <a:cs typeface="Inter Bold" pitchFamily="34" charset="-120"/>
              </a:rPr>
              <a:t>separar completamente el contenido (HTML) de la presentación (CSS)</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permitiendo que un mismo documento se mostrara de formas diferentes según el contexto o el dispositivo.</a:t>
            </a:r>
            <a:endParaRPr lang="en-US" sz="1100" dirty="0"/>
          </a:p>
        </p:txBody>
      </p:sp>
      <p:sp>
        <p:nvSpPr>
          <p:cNvPr id="6" name="Text 3"/>
          <p:cNvSpPr/>
          <p:nvPr/>
        </p:nvSpPr>
        <p:spPr>
          <a:xfrm>
            <a:off x="5155972" y="3463330"/>
            <a:ext cx="6380499"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El concepto de "cascada"</a:t>
            </a:r>
            <a:endParaRPr lang="en-US" sz="1400" dirty="0"/>
          </a:p>
        </p:txBody>
      </p:sp>
      <p:sp>
        <p:nvSpPr>
          <p:cNvPr id="7" name="Text 4"/>
          <p:cNvSpPr/>
          <p:nvPr/>
        </p:nvSpPr>
        <p:spPr>
          <a:xfrm>
            <a:off x="5155972" y="3814366"/>
            <a:ext cx="6380499" cy="1079004"/>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El término </a:t>
            </a:r>
            <a:pPr algn="l" indent="0" marL="0">
              <a:lnSpc>
                <a:spcPct val="125000"/>
              </a:lnSpc>
              <a:buNone/>
            </a:pPr>
            <a:r>
              <a:rPr lang="en-US" sz="1100" i="1" dirty="0">
                <a:solidFill>
                  <a:srgbClr val="272525"/>
                </a:solidFill>
                <a:latin typeface="Inter" pitchFamily="34" charset="0"/>
                <a:ea typeface="Inter" pitchFamily="34" charset="-122"/>
                <a:cs typeface="Inter" pitchFamily="34" charset="-120"/>
              </a:rPr>
              <a:t>cascada</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hace referencia al mecanismo por el cual múltiples hojas de estilo pueden aplicarse simultáneamente a un documento, resolviendo conflictos de prioridad mediante reglas bien definidas. Esto permitía, por ejemplo, que un usuario aplicara sus propios estilos sobre los del diseñador, o que un sitio mantuviera un estilo global mientras cada página añadía sus particularidades.</a:t>
            </a:r>
            <a:endParaRPr lang="en-US" sz="1100" dirty="0"/>
          </a:p>
        </p:txBody>
      </p:sp>
      <p:sp>
        <p:nvSpPr>
          <p:cNvPr id="8" name="Shape 5"/>
          <p:cNvSpPr/>
          <p:nvPr/>
        </p:nvSpPr>
        <p:spPr>
          <a:xfrm>
            <a:off x="5155972" y="5034756"/>
            <a:ext cx="3127396" cy="1083667"/>
          </a:xfrm>
          <a:prstGeom prst="roundRect">
            <a:avLst>
              <a:gd name="adj" fmla="val 5589"/>
            </a:avLst>
          </a:prstGeom>
          <a:solidFill>
            <a:srgbClr val="DADBF1"/>
          </a:solidFill>
          <a:ln w="6350">
            <a:solidFill>
              <a:srgbClr val="C0C1D7"/>
            </a:solidFill>
            <a:prstDash val="solid"/>
          </a:ln>
        </p:spPr>
      </p:sp>
      <p:sp>
        <p:nvSpPr>
          <p:cNvPr id="9" name="Text 6"/>
          <p:cNvSpPr/>
          <p:nvPr/>
        </p:nvSpPr>
        <p:spPr>
          <a:xfrm>
            <a:off x="5306483" y="5185271"/>
            <a:ext cx="2826374" cy="225326"/>
          </a:xfrm>
          <a:prstGeom prst="rect">
            <a:avLst/>
          </a:prstGeom>
          <a:noFill/>
          <a:ln/>
        </p:spPr>
        <p:txBody>
          <a:bodyPr wrap="none" lIns="0" tIns="0" rIns="0" bIns="0" rtlCol="0" anchor="t"/>
          <a:lstStyle/>
          <a:p>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Håkon Wium Lie</a:t>
            </a:r>
            <a:endParaRPr lang="en-US" sz="1400" dirty="0"/>
          </a:p>
        </p:txBody>
      </p:sp>
      <p:sp>
        <p:nvSpPr>
          <p:cNvPr id="10" name="Text 7"/>
          <p:cNvSpPr/>
          <p:nvPr/>
        </p:nvSpPr>
        <p:spPr>
          <a:xfrm>
            <a:off x="5306483" y="5536307"/>
            <a:ext cx="2826374" cy="4316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Noruego, CTO de Opera Software y figura clave del W3C</a:t>
            </a:r>
            <a:endParaRPr lang="en-US" sz="1100" dirty="0"/>
          </a:p>
        </p:txBody>
      </p:sp>
      <p:sp>
        <p:nvSpPr>
          <p:cNvPr id="11" name="Shape 8"/>
          <p:cNvSpPr/>
          <p:nvPr/>
        </p:nvSpPr>
        <p:spPr>
          <a:xfrm>
            <a:off x="8409075" y="5034756"/>
            <a:ext cx="3127396" cy="1083667"/>
          </a:xfrm>
          <a:prstGeom prst="roundRect">
            <a:avLst>
              <a:gd name="adj" fmla="val 5589"/>
            </a:avLst>
          </a:prstGeom>
          <a:solidFill>
            <a:srgbClr val="DADBF1"/>
          </a:solidFill>
          <a:ln w="6350">
            <a:solidFill>
              <a:srgbClr val="C0C1D7"/>
            </a:solidFill>
            <a:prstDash val="solid"/>
          </a:ln>
        </p:spPr>
      </p:sp>
      <p:sp>
        <p:nvSpPr>
          <p:cNvPr id="12" name="Text 9"/>
          <p:cNvSpPr/>
          <p:nvPr/>
        </p:nvSpPr>
        <p:spPr>
          <a:xfrm>
            <a:off x="8559586" y="5185271"/>
            <a:ext cx="2826374" cy="225326"/>
          </a:xfrm>
          <a:prstGeom prst="rect">
            <a:avLst/>
          </a:prstGeom>
          <a:noFill/>
          <a:ln/>
        </p:spPr>
        <p:txBody>
          <a:bodyPr wrap="none" lIns="0" tIns="0" rIns="0" bIns="0" rtlCol="0" anchor="t"/>
          <a:lstStyle/>
          <a:p>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Bert Bos</a:t>
            </a:r>
            <a:endParaRPr lang="en-US" sz="1400" dirty="0"/>
          </a:p>
        </p:txBody>
      </p:sp>
      <p:sp>
        <p:nvSpPr>
          <p:cNvPr id="13" name="Text 10"/>
          <p:cNvSpPr/>
          <p:nvPr/>
        </p:nvSpPr>
        <p:spPr>
          <a:xfrm>
            <a:off x="8559586" y="5536307"/>
            <a:ext cx="2826374" cy="4316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Neerlandés, co-creador y miembro activo del W3C</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09687"/>
            <a:ext cx="10868745" cy="406995"/>
          </a:xfrm>
          <a:prstGeom prst="rect">
            <a:avLst/>
          </a:prstGeom>
          <a:noFill/>
          <a:ln/>
        </p:spPr>
        <p:txBody>
          <a:bodyPr wrap="none" lIns="0" tIns="0" rIns="0" bIns="0" rtlCol="0" anchor="t"/>
          <a:lstStyle/>
          <a:p>
            <a:pPr algn="l" indent="0" marL="0">
              <a:lnSpc>
                <a:spcPct val="104000"/>
              </a:lnSpc>
              <a:buNone/>
            </a:pPr>
            <a:r>
              <a:rPr lang="en-US" sz="2550" b="1" dirty="0">
                <a:solidFill>
                  <a:srgbClr val="000000"/>
                </a:solidFill>
                <a:latin typeface="Inter Bold" pitchFamily="34" charset="0"/>
                <a:ea typeface="Inter Bold" pitchFamily="34" charset="-122"/>
                <a:cs typeface="Inter Bold" pitchFamily="34" charset="-120"/>
              </a:rPr>
              <a:t>Línea de Tiempo: CSS1 (1996) — La Primera Especificación Oficial</a:t>
            </a:r>
            <a:endParaRPr lang="en-US" sz="2550" dirty="0"/>
          </a:p>
        </p:txBody>
      </p:sp>
      <p:sp>
        <p:nvSpPr>
          <p:cNvPr id="3" name="Text 1"/>
          <p:cNvSpPr/>
          <p:nvPr/>
        </p:nvSpPr>
        <p:spPr>
          <a:xfrm>
            <a:off x="661475" y="1121767"/>
            <a:ext cx="10868745" cy="372467"/>
          </a:xfrm>
          <a:prstGeom prst="rect">
            <a:avLst/>
          </a:prstGeom>
          <a:noFill/>
          <a:ln/>
        </p:spPr>
        <p:txBody>
          <a:bodyPr wrap="square" lIns="0" tIns="0" rIns="0" bIns="0" rtlCol="0" anchor="t">
            <a:normAutofit/>
          </a:bodyPr>
          <a:lstStyle/>
          <a:p>
            <a:pPr algn="l" indent="0" marL="0">
              <a:lnSpc>
                <a:spcPct val="119000"/>
              </a:lnSpc>
              <a:buNone/>
            </a:pPr>
            <a:r>
              <a:rPr lang="en-US" sz="1000" dirty="0">
                <a:solidFill>
                  <a:srgbClr val="272525"/>
                </a:solidFill>
                <a:latin typeface="Inter" pitchFamily="34" charset="0"/>
                <a:ea typeface="Inter" pitchFamily="34" charset="-122"/>
                <a:cs typeface="Inter" pitchFamily="34" charset="-120"/>
              </a:rPr>
              <a:t>El </a:t>
            </a:r>
            <a:pPr algn="l" indent="0" marL="0">
              <a:lnSpc>
                <a:spcPct val="119000"/>
              </a:lnSpc>
              <a:buNone/>
            </a:pPr>
            <a:r>
              <a:rPr lang="en-US" sz="1000" b="1" dirty="0">
                <a:solidFill>
                  <a:srgbClr val="272525"/>
                </a:solidFill>
                <a:latin typeface="Inter Bold" pitchFamily="34" charset="0"/>
                <a:ea typeface="Inter Bold" pitchFamily="34" charset="-122"/>
                <a:cs typeface="Inter Bold" pitchFamily="34" charset="-120"/>
              </a:rPr>
              <a:t>17 de diciembre de 1996</a:t>
            </a:r>
            <a:pPr algn="l" indent="0" marL="0">
              <a:lnSpc>
                <a:spcPct val="119000"/>
              </a:lnSpc>
              <a:buNone/>
            </a:pPr>
            <a:r>
              <a:rPr lang="en-US" sz="1000" dirty="0">
                <a:solidFill>
                  <a:srgbClr val="272525"/>
                </a:solidFill>
                <a:latin typeface="Inter" pitchFamily="34" charset="0"/>
                <a:ea typeface="Inter" pitchFamily="34" charset="-122"/>
                <a:cs typeface="Inter" pitchFamily="34" charset="-120"/>
              </a:rPr>
              <a:t>, el World Wide Web Consortium (W3C) publicó la Recomendación oficial de CSS Nivel 1, consolidando el trabajo de Lie y Bos en un estándar internacional. Esta fue la primera vez que los navegadores tenían una especificación común para implementar estilos web.</a:t>
            </a:r>
            <a:endParaRPr lang="en-US" sz="1000" dirty="0"/>
          </a:p>
        </p:txBody>
      </p:sp>
      <p:sp>
        <p:nvSpPr>
          <p:cNvPr id="4" name="Shape 2"/>
          <p:cNvSpPr/>
          <p:nvPr/>
        </p:nvSpPr>
        <p:spPr>
          <a:xfrm>
            <a:off x="6086323" y="1609626"/>
            <a:ext cx="19050" cy="3104455"/>
          </a:xfrm>
          <a:prstGeom prst="roundRect">
            <a:avLst>
              <a:gd name="adj" fmla="val 49999"/>
            </a:avLst>
          </a:prstGeom>
          <a:solidFill>
            <a:srgbClr val="C0C1D7"/>
          </a:solidFill>
          <a:ln/>
        </p:spPr>
      </p:sp>
      <p:sp>
        <p:nvSpPr>
          <p:cNvPr id="5" name="Shape 3"/>
          <p:cNvSpPr/>
          <p:nvPr/>
        </p:nvSpPr>
        <p:spPr>
          <a:xfrm>
            <a:off x="5577691" y="1746548"/>
            <a:ext cx="390714" cy="19050"/>
          </a:xfrm>
          <a:prstGeom prst="roundRect">
            <a:avLst>
              <a:gd name="adj" fmla="val 49999"/>
            </a:avLst>
          </a:prstGeom>
          <a:solidFill>
            <a:srgbClr val="C0C1D7"/>
          </a:solidFill>
          <a:ln/>
        </p:spPr>
      </p:sp>
      <p:sp>
        <p:nvSpPr>
          <p:cNvPr id="6" name="Shape 4"/>
          <p:cNvSpPr/>
          <p:nvPr/>
        </p:nvSpPr>
        <p:spPr>
          <a:xfrm>
            <a:off x="5949355" y="1609626"/>
            <a:ext cx="292986" cy="292993"/>
          </a:xfrm>
          <a:prstGeom prst="roundRect">
            <a:avLst>
              <a:gd name="adj" fmla="val 18671"/>
            </a:avLst>
          </a:prstGeom>
          <a:solidFill>
            <a:srgbClr val="DADBF1"/>
          </a:solidFill>
          <a:ln w="6350">
            <a:solidFill>
              <a:srgbClr val="C0C1D7"/>
            </a:solidFill>
            <a:prstDash val="solid"/>
          </a:ln>
        </p:spPr>
      </p:sp>
      <p:sp>
        <p:nvSpPr>
          <p:cNvPr id="7" name="Text 5"/>
          <p:cNvSpPr/>
          <p:nvPr/>
        </p:nvSpPr>
        <p:spPr>
          <a:xfrm>
            <a:off x="5998119" y="1633984"/>
            <a:ext cx="195357" cy="244177"/>
          </a:xfrm>
          <a:prstGeom prst="rect">
            <a:avLst/>
          </a:prstGeom>
          <a:noFill/>
          <a:ln/>
        </p:spPr>
        <p:txBody>
          <a:bodyPr wrap="none" lIns="0" tIns="0" rIns="0" bIns="0" rtlCol="0" anchor="ctr"/>
          <a:lstStyle/>
          <a:p>
            <a:pPr algn="ctr" indent="0" marL="0">
              <a:lnSpc>
                <a:spcPct val="100000"/>
              </a:lnSpc>
              <a:buNone/>
            </a:pPr>
            <a:r>
              <a:rPr lang="en-US" sz="1500" b="1" dirty="0">
                <a:solidFill>
                  <a:srgbClr val="272525"/>
                </a:solidFill>
                <a:latin typeface="Inter Bold" pitchFamily="34" charset="0"/>
                <a:ea typeface="Inter Bold" pitchFamily="34" charset="-122"/>
                <a:cs typeface="Inter Bold" pitchFamily="34" charset="-120"/>
              </a:rPr>
              <a:t>1</a:t>
            </a:r>
            <a:endParaRPr lang="en-US" sz="1500" dirty="0"/>
          </a:p>
        </p:txBody>
      </p:sp>
      <p:sp>
        <p:nvSpPr>
          <p:cNvPr id="8" name="Text 6"/>
          <p:cNvSpPr/>
          <p:nvPr/>
        </p:nvSpPr>
        <p:spPr>
          <a:xfrm>
            <a:off x="661475" y="1654373"/>
            <a:ext cx="4783216" cy="203498"/>
          </a:xfrm>
          <a:prstGeom prst="rect">
            <a:avLst/>
          </a:prstGeom>
          <a:noFill/>
          <a:ln/>
        </p:spPr>
        <p:txBody>
          <a:bodyPr wrap="none" lIns="0" tIns="0" rIns="0" bIns="0" rtlCol="0" anchor="t"/>
          <a:lstStyle/>
          <a:p>
            <a:pPr algn="r"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1994</a:t>
            </a:r>
            <a:endParaRPr lang="en-US" sz="1250" dirty="0"/>
          </a:p>
        </p:txBody>
      </p:sp>
      <p:sp>
        <p:nvSpPr>
          <p:cNvPr id="9" name="Text 7"/>
          <p:cNvSpPr/>
          <p:nvPr/>
        </p:nvSpPr>
        <p:spPr>
          <a:xfrm>
            <a:off x="661475" y="1919387"/>
            <a:ext cx="4783216" cy="372467"/>
          </a:xfrm>
          <a:prstGeom prst="rect">
            <a:avLst/>
          </a:prstGeom>
          <a:noFill/>
          <a:ln/>
        </p:spPr>
        <p:txBody>
          <a:bodyPr wrap="square" lIns="0" tIns="0" rIns="0" bIns="0" rtlCol="0" anchor="t">
            <a:normAutofit/>
          </a:bodyPr>
          <a:lstStyle/>
          <a:p>
            <a:pPr algn="r" indent="0" marL="0">
              <a:lnSpc>
                <a:spcPct val="119000"/>
              </a:lnSpc>
              <a:buNone/>
            </a:pPr>
            <a:r>
              <a:rPr lang="en-US" sz="1000" dirty="0">
                <a:solidFill>
                  <a:srgbClr val="272525"/>
                </a:solidFill>
                <a:latin typeface="Inter" pitchFamily="34" charset="0"/>
                <a:ea typeface="Inter" pitchFamily="34" charset="-122"/>
                <a:cs typeface="Inter" pitchFamily="34" charset="-120"/>
              </a:rPr>
              <a:t>Håkon Wium Lie publica la primera propuesta de CSS. Bert Bos se une al proyecto.</a:t>
            </a:r>
            <a:endParaRPr lang="en-US" sz="1000" dirty="0"/>
          </a:p>
        </p:txBody>
      </p:sp>
      <p:sp>
        <p:nvSpPr>
          <p:cNvPr id="10" name="Shape 8"/>
          <p:cNvSpPr/>
          <p:nvPr/>
        </p:nvSpPr>
        <p:spPr>
          <a:xfrm>
            <a:off x="6223291" y="2472531"/>
            <a:ext cx="390714" cy="19050"/>
          </a:xfrm>
          <a:prstGeom prst="roundRect">
            <a:avLst>
              <a:gd name="adj" fmla="val 49999"/>
            </a:avLst>
          </a:prstGeom>
          <a:solidFill>
            <a:srgbClr val="C0C1D7"/>
          </a:solidFill>
          <a:ln/>
        </p:spPr>
      </p:sp>
      <p:sp>
        <p:nvSpPr>
          <p:cNvPr id="11" name="Shape 9"/>
          <p:cNvSpPr/>
          <p:nvPr/>
        </p:nvSpPr>
        <p:spPr>
          <a:xfrm>
            <a:off x="5949355" y="2335609"/>
            <a:ext cx="292986" cy="292993"/>
          </a:xfrm>
          <a:prstGeom prst="roundRect">
            <a:avLst>
              <a:gd name="adj" fmla="val 18671"/>
            </a:avLst>
          </a:prstGeom>
          <a:solidFill>
            <a:srgbClr val="DADBF1"/>
          </a:solidFill>
          <a:ln w="6350">
            <a:solidFill>
              <a:srgbClr val="C0C1D7"/>
            </a:solidFill>
            <a:prstDash val="solid"/>
          </a:ln>
        </p:spPr>
      </p:sp>
      <p:sp>
        <p:nvSpPr>
          <p:cNvPr id="12" name="Text 10"/>
          <p:cNvSpPr/>
          <p:nvPr/>
        </p:nvSpPr>
        <p:spPr>
          <a:xfrm>
            <a:off x="5998119" y="2359968"/>
            <a:ext cx="195357" cy="244177"/>
          </a:xfrm>
          <a:prstGeom prst="rect">
            <a:avLst/>
          </a:prstGeom>
          <a:noFill/>
          <a:ln/>
        </p:spPr>
        <p:txBody>
          <a:bodyPr wrap="none" lIns="0" tIns="0" rIns="0" bIns="0" rtlCol="0" anchor="ctr"/>
          <a:lstStyle/>
          <a:p>
            <a:pPr algn="ctr" indent="0" marL="0">
              <a:lnSpc>
                <a:spcPct val="100000"/>
              </a:lnSpc>
              <a:buNone/>
            </a:pPr>
            <a:r>
              <a:rPr lang="en-US" sz="1500" b="1" dirty="0">
                <a:solidFill>
                  <a:srgbClr val="272525"/>
                </a:solidFill>
                <a:latin typeface="Inter Bold" pitchFamily="34" charset="0"/>
                <a:ea typeface="Inter Bold" pitchFamily="34" charset="-122"/>
                <a:cs typeface="Inter Bold" pitchFamily="34" charset="-120"/>
              </a:rPr>
              <a:t>2</a:t>
            </a:r>
            <a:endParaRPr lang="en-US" sz="1500" dirty="0"/>
          </a:p>
        </p:txBody>
      </p:sp>
      <p:sp>
        <p:nvSpPr>
          <p:cNvPr id="13" name="Text 11"/>
          <p:cNvSpPr/>
          <p:nvPr/>
        </p:nvSpPr>
        <p:spPr>
          <a:xfrm>
            <a:off x="6747004" y="2380357"/>
            <a:ext cx="4783216" cy="20349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1995</a:t>
            </a:r>
            <a:endParaRPr lang="en-US" sz="1250" dirty="0"/>
          </a:p>
        </p:txBody>
      </p:sp>
      <p:sp>
        <p:nvSpPr>
          <p:cNvPr id="14" name="Text 12"/>
          <p:cNvSpPr/>
          <p:nvPr/>
        </p:nvSpPr>
        <p:spPr>
          <a:xfrm>
            <a:off x="6747004" y="2645370"/>
            <a:ext cx="4783216" cy="372467"/>
          </a:xfrm>
          <a:prstGeom prst="rect">
            <a:avLst/>
          </a:prstGeom>
          <a:noFill/>
          <a:ln/>
        </p:spPr>
        <p:txBody>
          <a:bodyPr wrap="square" lIns="0" tIns="0" rIns="0" bIns="0" rtlCol="0" anchor="t">
            <a:normAutofit/>
          </a:bodyPr>
          <a:lstStyle/>
          <a:p>
            <a:pPr algn="l" indent="0" marL="0">
              <a:lnSpc>
                <a:spcPct val="119000"/>
              </a:lnSpc>
              <a:buNone/>
            </a:pPr>
            <a:r>
              <a:rPr lang="en-US" sz="1000" dirty="0">
                <a:solidFill>
                  <a:srgbClr val="272525"/>
                </a:solidFill>
                <a:latin typeface="Inter" pitchFamily="34" charset="0"/>
                <a:ea typeface="Inter" pitchFamily="34" charset="-122"/>
                <a:cs typeface="Inter" pitchFamily="34" charset="-120"/>
              </a:rPr>
              <a:t>El W3C adopta CSS como área de trabajo oficial. Se forman los primeros grupos de trabajo.</a:t>
            </a:r>
            <a:endParaRPr lang="en-US" sz="1000" dirty="0"/>
          </a:p>
        </p:txBody>
      </p:sp>
      <p:sp>
        <p:nvSpPr>
          <p:cNvPr id="15" name="Shape 13"/>
          <p:cNvSpPr/>
          <p:nvPr/>
        </p:nvSpPr>
        <p:spPr>
          <a:xfrm>
            <a:off x="5577691" y="3118346"/>
            <a:ext cx="390714" cy="19050"/>
          </a:xfrm>
          <a:prstGeom prst="roundRect">
            <a:avLst>
              <a:gd name="adj" fmla="val 49999"/>
            </a:avLst>
          </a:prstGeom>
          <a:solidFill>
            <a:srgbClr val="C0C1D7"/>
          </a:solidFill>
          <a:ln/>
        </p:spPr>
      </p:sp>
      <p:sp>
        <p:nvSpPr>
          <p:cNvPr id="16" name="Shape 14"/>
          <p:cNvSpPr/>
          <p:nvPr/>
        </p:nvSpPr>
        <p:spPr>
          <a:xfrm>
            <a:off x="5949355" y="2981424"/>
            <a:ext cx="292986" cy="292993"/>
          </a:xfrm>
          <a:prstGeom prst="roundRect">
            <a:avLst>
              <a:gd name="adj" fmla="val 18671"/>
            </a:avLst>
          </a:prstGeom>
          <a:solidFill>
            <a:srgbClr val="DADBF1"/>
          </a:solidFill>
          <a:ln w="6350">
            <a:solidFill>
              <a:srgbClr val="C0C1D7"/>
            </a:solidFill>
            <a:prstDash val="solid"/>
          </a:ln>
        </p:spPr>
      </p:sp>
      <p:sp>
        <p:nvSpPr>
          <p:cNvPr id="17" name="Text 15"/>
          <p:cNvSpPr/>
          <p:nvPr/>
        </p:nvSpPr>
        <p:spPr>
          <a:xfrm>
            <a:off x="5998119" y="3005782"/>
            <a:ext cx="195357" cy="244177"/>
          </a:xfrm>
          <a:prstGeom prst="rect">
            <a:avLst/>
          </a:prstGeom>
          <a:noFill/>
          <a:ln/>
        </p:spPr>
        <p:txBody>
          <a:bodyPr wrap="none" lIns="0" tIns="0" rIns="0" bIns="0" rtlCol="0" anchor="ctr"/>
          <a:lstStyle/>
          <a:p>
            <a:pPr algn="ctr" indent="0" marL="0">
              <a:lnSpc>
                <a:spcPct val="100000"/>
              </a:lnSpc>
              <a:buNone/>
            </a:pPr>
            <a:r>
              <a:rPr lang="en-US" sz="1500" b="1" dirty="0">
                <a:solidFill>
                  <a:srgbClr val="272525"/>
                </a:solidFill>
                <a:latin typeface="Inter Bold" pitchFamily="34" charset="0"/>
                <a:ea typeface="Inter Bold" pitchFamily="34" charset="-122"/>
                <a:cs typeface="Inter Bold" pitchFamily="34" charset="-120"/>
              </a:rPr>
              <a:t>3</a:t>
            </a:r>
            <a:endParaRPr lang="en-US" sz="1500" dirty="0"/>
          </a:p>
        </p:txBody>
      </p:sp>
      <p:sp>
        <p:nvSpPr>
          <p:cNvPr id="18" name="Text 16"/>
          <p:cNvSpPr/>
          <p:nvPr/>
        </p:nvSpPr>
        <p:spPr>
          <a:xfrm>
            <a:off x="661475" y="3026172"/>
            <a:ext cx="4783216" cy="203498"/>
          </a:xfrm>
          <a:prstGeom prst="rect">
            <a:avLst/>
          </a:prstGeom>
          <a:noFill/>
          <a:ln/>
        </p:spPr>
        <p:txBody>
          <a:bodyPr wrap="none" lIns="0" tIns="0" rIns="0" bIns="0" rtlCol="0" anchor="t"/>
          <a:lstStyle/>
          <a:p>
            <a:pPr algn="r"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1996</a:t>
            </a:r>
            <a:endParaRPr lang="en-US" sz="1250" dirty="0"/>
          </a:p>
        </p:txBody>
      </p:sp>
      <p:sp>
        <p:nvSpPr>
          <p:cNvPr id="19" name="Text 17"/>
          <p:cNvSpPr/>
          <p:nvPr/>
        </p:nvSpPr>
        <p:spPr>
          <a:xfrm>
            <a:off x="661475" y="3291185"/>
            <a:ext cx="4783216" cy="372467"/>
          </a:xfrm>
          <a:prstGeom prst="rect">
            <a:avLst/>
          </a:prstGeom>
          <a:noFill/>
          <a:ln/>
        </p:spPr>
        <p:txBody>
          <a:bodyPr wrap="square" lIns="0" tIns="0" rIns="0" bIns="0" rtlCol="0" anchor="t">
            <a:normAutofit/>
          </a:bodyPr>
          <a:lstStyle/>
          <a:p>
            <a:pPr algn="r" indent="0" marL="0">
              <a:lnSpc>
                <a:spcPct val="119000"/>
              </a:lnSpc>
              <a:buNone/>
            </a:pPr>
            <a:r>
              <a:rPr lang="en-US" sz="1000" b="1" dirty="0">
                <a:solidFill>
                  <a:srgbClr val="272525"/>
                </a:solidFill>
                <a:latin typeface="Inter Bold" pitchFamily="34" charset="0"/>
                <a:ea typeface="Inter Bold" pitchFamily="34" charset="-122"/>
                <a:cs typeface="Inter Bold" pitchFamily="34" charset="-120"/>
              </a:rPr>
              <a:t>CSS1</a:t>
            </a:r>
            <a:pPr algn="r" indent="0" marL="0">
              <a:lnSpc>
                <a:spcPct val="119000"/>
              </a:lnSpc>
              <a:buNone/>
            </a:pPr>
            <a:r>
              <a:rPr lang="en-US" sz="1000" dirty="0">
                <a:solidFill>
                  <a:srgbClr val="272525"/>
                </a:solidFill>
                <a:latin typeface="Inter" pitchFamily="34" charset="0"/>
                <a:ea typeface="Inter" pitchFamily="34" charset="-122"/>
                <a:cs typeface="Inter" pitchFamily="34" charset="-120"/>
              </a:rPr>
              <a:t> se convierte en Recomendación del W3C. Incluye selectores, colores, fuentes y márgenes.</a:t>
            </a:r>
            <a:endParaRPr lang="en-US" sz="1000" dirty="0"/>
          </a:p>
        </p:txBody>
      </p:sp>
      <p:sp>
        <p:nvSpPr>
          <p:cNvPr id="20" name="Shape 18"/>
          <p:cNvSpPr/>
          <p:nvPr/>
        </p:nvSpPr>
        <p:spPr>
          <a:xfrm>
            <a:off x="6223291" y="3764260"/>
            <a:ext cx="390714" cy="19050"/>
          </a:xfrm>
          <a:prstGeom prst="roundRect">
            <a:avLst>
              <a:gd name="adj" fmla="val 49999"/>
            </a:avLst>
          </a:prstGeom>
          <a:solidFill>
            <a:srgbClr val="C0C1D7"/>
          </a:solidFill>
          <a:ln/>
        </p:spPr>
      </p:sp>
      <p:sp>
        <p:nvSpPr>
          <p:cNvPr id="21" name="Shape 19"/>
          <p:cNvSpPr/>
          <p:nvPr/>
        </p:nvSpPr>
        <p:spPr>
          <a:xfrm>
            <a:off x="5949355" y="3627338"/>
            <a:ext cx="292986" cy="292993"/>
          </a:xfrm>
          <a:prstGeom prst="roundRect">
            <a:avLst>
              <a:gd name="adj" fmla="val 18671"/>
            </a:avLst>
          </a:prstGeom>
          <a:solidFill>
            <a:srgbClr val="DADBF1"/>
          </a:solidFill>
          <a:ln w="6350">
            <a:solidFill>
              <a:srgbClr val="C0C1D7"/>
            </a:solidFill>
            <a:prstDash val="solid"/>
          </a:ln>
        </p:spPr>
      </p:sp>
      <p:sp>
        <p:nvSpPr>
          <p:cNvPr id="22" name="Text 20"/>
          <p:cNvSpPr/>
          <p:nvPr/>
        </p:nvSpPr>
        <p:spPr>
          <a:xfrm>
            <a:off x="5998119" y="3651696"/>
            <a:ext cx="195357" cy="244177"/>
          </a:xfrm>
          <a:prstGeom prst="rect">
            <a:avLst/>
          </a:prstGeom>
          <a:noFill/>
          <a:ln/>
        </p:spPr>
        <p:txBody>
          <a:bodyPr wrap="none" lIns="0" tIns="0" rIns="0" bIns="0" rtlCol="0" anchor="ctr"/>
          <a:lstStyle/>
          <a:p>
            <a:pPr algn="ctr" indent="0" marL="0">
              <a:lnSpc>
                <a:spcPct val="100000"/>
              </a:lnSpc>
              <a:buNone/>
            </a:pPr>
            <a:r>
              <a:rPr lang="en-US" sz="1500" b="1" dirty="0">
                <a:solidFill>
                  <a:srgbClr val="272525"/>
                </a:solidFill>
                <a:latin typeface="Inter Bold" pitchFamily="34" charset="0"/>
                <a:ea typeface="Inter Bold" pitchFamily="34" charset="-122"/>
                <a:cs typeface="Inter Bold" pitchFamily="34" charset="-120"/>
              </a:rPr>
              <a:t>4</a:t>
            </a:r>
            <a:endParaRPr lang="en-US" sz="1500" dirty="0"/>
          </a:p>
        </p:txBody>
      </p:sp>
      <p:sp>
        <p:nvSpPr>
          <p:cNvPr id="23" name="Text 21"/>
          <p:cNvSpPr/>
          <p:nvPr/>
        </p:nvSpPr>
        <p:spPr>
          <a:xfrm>
            <a:off x="6747004" y="3672086"/>
            <a:ext cx="4783216" cy="20349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1997</a:t>
            </a:r>
            <a:endParaRPr lang="en-US" sz="1250" dirty="0"/>
          </a:p>
        </p:txBody>
      </p:sp>
      <p:sp>
        <p:nvSpPr>
          <p:cNvPr id="24" name="Text 22"/>
          <p:cNvSpPr/>
          <p:nvPr/>
        </p:nvSpPr>
        <p:spPr>
          <a:xfrm>
            <a:off x="6747004" y="3937099"/>
            <a:ext cx="4783216" cy="372467"/>
          </a:xfrm>
          <a:prstGeom prst="rect">
            <a:avLst/>
          </a:prstGeom>
          <a:noFill/>
          <a:ln/>
        </p:spPr>
        <p:txBody>
          <a:bodyPr wrap="square" lIns="0" tIns="0" rIns="0" bIns="0" rtlCol="0" anchor="t">
            <a:normAutofit/>
          </a:bodyPr>
          <a:lstStyle/>
          <a:p>
            <a:pPr algn="l" indent="0" marL="0">
              <a:lnSpc>
                <a:spcPct val="119000"/>
              </a:lnSpc>
              <a:buNone/>
            </a:pPr>
            <a:r>
              <a:rPr lang="en-US" sz="1000" dirty="0">
                <a:solidFill>
                  <a:srgbClr val="272525"/>
                </a:solidFill>
                <a:latin typeface="Inter" pitchFamily="34" charset="0"/>
                <a:ea typeface="Inter" pitchFamily="34" charset="-122"/>
                <a:cs typeface="Inter" pitchFamily="34" charset="-120"/>
              </a:rPr>
              <a:t>Internet Explorer 4 se convierte en el primer navegador en implementar CSS de forma significativa.</a:t>
            </a:r>
            <a:endParaRPr lang="en-US" sz="1000" dirty="0"/>
          </a:p>
        </p:txBody>
      </p:sp>
      <p:sp>
        <p:nvSpPr>
          <p:cNvPr id="25" name="Text 23"/>
          <p:cNvSpPr/>
          <p:nvPr/>
        </p:nvSpPr>
        <p:spPr>
          <a:xfrm>
            <a:off x="661475" y="4931966"/>
            <a:ext cx="5275527" cy="203498"/>
          </a:xfrm>
          <a:prstGeom prst="rect">
            <a:avLst/>
          </a:prstGeom>
          <a:noFill/>
          <a:ln/>
        </p:spPr>
        <p:txBody>
          <a:bodyPr wrap="none" lIns="0" tIns="0" rIns="0" bIns="0" rtlCol="0" anchor="t"/>
          <a:lstStyle/>
          <a:p>
            <a:pPr algn="l" indent="0" marL="0">
              <a:lnSpc>
                <a:spcPct val="104000"/>
              </a:lnSpc>
              <a:buNone/>
            </a:pPr>
            <a:r>
              <a:rPr lang="en-US" sz="1250" b="1" dirty="0">
                <a:solidFill>
                  <a:srgbClr val="000000"/>
                </a:solidFill>
                <a:latin typeface="Inter Bold" pitchFamily="34" charset="0"/>
                <a:ea typeface="Inter Bold" pitchFamily="34" charset="-122"/>
                <a:cs typeface="Inter Bold" pitchFamily="34" charset="-120"/>
              </a:rPr>
              <a:t>¿Qué incluía CSS1?</a:t>
            </a:r>
            <a:endParaRPr lang="en-US" sz="1250" dirty="0"/>
          </a:p>
        </p:txBody>
      </p:sp>
      <p:sp>
        <p:nvSpPr>
          <p:cNvPr id="26" name="Text 24"/>
          <p:cNvSpPr/>
          <p:nvPr/>
        </p:nvSpPr>
        <p:spPr>
          <a:xfrm>
            <a:off x="661475" y="5237956"/>
            <a:ext cx="5275527" cy="1074440"/>
          </a:xfrm>
          <a:prstGeom prst="rect">
            <a:avLst/>
          </a:prstGeom>
          <a:noFill/>
          <a:ln/>
        </p:spPr>
        <p:txBody>
          <a:bodyPr wrap="square" lIns="0" tIns="0" rIns="0" bIns="0" rtlCol="0" anchor="t">
            <a:normAutofit/>
          </a:bodyPr>
          <a:lstStyle/>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Selectores básicos: elemento, clase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.clase</a:t>
            </a:r>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 e ID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#id</a:t>
            </a:r>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Propiedades de fuente: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font-family</a:t>
            </a:r>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font-size</a:t>
            </a:r>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font-style</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Colores y fondos: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color</a:t>
            </a:r>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background-color</a:t>
            </a:r>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 </a:t>
            </a:r>
            <a:pPr algn="l" marL="203200" indent="-203200">
              <a:lnSpc>
                <a:spcPct val="119000"/>
              </a:lnSpc>
              <a:buSzPct val="100000"/>
              <a:buChar char="•"/>
            </a:pPr>
            <a:r>
              <a:rPr lang="en-US" sz="1000" dirty="0">
                <a:solidFill>
                  <a:srgbClr val="272525"/>
                </a:solidFill>
                <a:highlight>
                  <a:srgbClr val="F2F2F2"/>
                </a:highlight>
                <a:latin typeface="Consolas" pitchFamily="34" charset="0"/>
                <a:ea typeface="Consolas" pitchFamily="34" charset="-122"/>
                <a:cs typeface="Consolas" pitchFamily="34" charset="-120"/>
              </a:rPr>
              <a:t>background-image</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Márgenes, rellenos y bordes básicos</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Posicionamiento estático y relativo</a:t>
            </a:r>
            <a:endParaRPr lang="en-US" sz="1000" dirty="0"/>
          </a:p>
        </p:txBody>
      </p:sp>
      <p:sp>
        <p:nvSpPr>
          <p:cNvPr id="27" name="Text 25"/>
          <p:cNvSpPr/>
          <p:nvPr/>
        </p:nvSpPr>
        <p:spPr>
          <a:xfrm>
            <a:off x="6261043" y="4931966"/>
            <a:ext cx="5275527" cy="203498"/>
          </a:xfrm>
          <a:prstGeom prst="rect">
            <a:avLst/>
          </a:prstGeom>
          <a:noFill/>
          <a:ln/>
        </p:spPr>
        <p:txBody>
          <a:bodyPr wrap="none" lIns="0" tIns="0" rIns="0" bIns="0" rtlCol="0" anchor="t"/>
          <a:lstStyle/>
          <a:p>
            <a:pPr algn="l" indent="0" marL="0">
              <a:lnSpc>
                <a:spcPct val="104000"/>
              </a:lnSpc>
              <a:buNone/>
            </a:pPr>
            <a:r>
              <a:rPr lang="en-US" sz="1250" b="1" dirty="0">
                <a:solidFill>
                  <a:srgbClr val="000000"/>
                </a:solidFill>
                <a:latin typeface="Inter Bold" pitchFamily="34" charset="0"/>
                <a:ea typeface="Inter Bold" pitchFamily="34" charset="-122"/>
                <a:cs typeface="Inter Bold" pitchFamily="34" charset="-120"/>
              </a:rPr>
              <a:t>Limitaciones de CSS1</a:t>
            </a:r>
            <a:endParaRPr lang="en-US" sz="1250" dirty="0"/>
          </a:p>
        </p:txBody>
      </p:sp>
      <p:sp>
        <p:nvSpPr>
          <p:cNvPr id="28" name="Text 26"/>
          <p:cNvSpPr/>
          <p:nvPr/>
        </p:nvSpPr>
        <p:spPr>
          <a:xfrm>
            <a:off x="6261043" y="5237956"/>
            <a:ext cx="5275527" cy="1074440"/>
          </a:xfrm>
          <a:prstGeom prst="rect">
            <a:avLst/>
          </a:prstGeom>
          <a:noFill/>
          <a:ln/>
        </p:spPr>
        <p:txBody>
          <a:bodyPr wrap="square" lIns="0" tIns="0" rIns="0" bIns="0" rtlCol="0" anchor="t">
            <a:normAutofit/>
          </a:bodyPr>
          <a:lstStyle/>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Sin soporte para posicionamiento absoluto avanzado</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Sin capacidades de diseño de columnas o rejillas</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Implementación inconsistente entre navegadores</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Ausencia de propiedades para impresión</a:t>
            </a:r>
            <a:endParaRPr lang="en-US" sz="1000" dirty="0"/>
          </a:p>
          <a:p>
            <a:pPr algn="l" marL="203200" indent="-203200">
              <a:lnSpc>
                <a:spcPct val="119000"/>
              </a:lnSpc>
              <a:buSzPct val="100000"/>
              <a:buChar char="•"/>
            </a:pPr>
            <a:r>
              <a:rPr lang="en-US" sz="1000" dirty="0">
                <a:solidFill>
                  <a:srgbClr val="272525"/>
                </a:solidFill>
                <a:latin typeface="Inter" pitchFamily="34" charset="0"/>
                <a:ea typeface="Inter" pitchFamily="34" charset="-122"/>
                <a:cs typeface="Inter" pitchFamily="34" charset="-120"/>
              </a:rPr>
              <a:t>No soportaba pseudo-elementos avanzados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41660"/>
            <a:ext cx="10868745" cy="439241"/>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Evolución: CSS2 (1998) y CSS2.1 — Madurando el Estándar</a:t>
            </a:r>
            <a:endParaRPr lang="en-US" sz="2750" dirty="0"/>
          </a:p>
        </p:txBody>
      </p:sp>
      <p:sp>
        <p:nvSpPr>
          <p:cNvPr id="3" name="Text 1"/>
          <p:cNvSpPr/>
          <p:nvPr/>
        </p:nvSpPr>
        <p:spPr>
          <a:xfrm>
            <a:off x="661475" y="1419820"/>
            <a:ext cx="1086874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CSS2, publicado en mayo de 1998, representó un salto cualitativo enorme. Introdujo capacidades que hoy consideramos fundamentales, como el posicionamiento absoluto, los medios de destino (</a:t>
            </a:r>
            <a:pPr algn="l" indent="0" marL="0">
              <a:lnSpc>
                <a:spcPct val="123000"/>
              </a:lnSpc>
              <a:buNone/>
            </a:pPr>
            <a:r>
              <a:rPr lang="en-US" sz="1100" i="1" dirty="0">
                <a:solidFill>
                  <a:srgbClr val="272525"/>
                </a:solidFill>
                <a:latin typeface="Inter" pitchFamily="34" charset="0"/>
                <a:ea typeface="Inter" pitchFamily="34" charset="-122"/>
                <a:cs typeface="Inter" pitchFamily="34" charset="-120"/>
              </a:rPr>
              <a:t>media types</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y la accesibilidad. CSS2.1 (2011) corrigió errores y consolidó las implementaciones reales de los navegadores.</a:t>
            </a:r>
            <a:endParaRPr lang="en-US" sz="1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70286"/>
            <a:ext cx="351424" cy="351433"/>
          </a:xfrm>
          <a:prstGeom prst="rect">
            <a:avLst/>
          </a:prstGeom>
        </p:spPr>
      </p:pic>
      <p:sp>
        <p:nvSpPr>
          <p:cNvPr id="5" name="Text 2"/>
          <p:cNvSpPr/>
          <p:nvPr/>
        </p:nvSpPr>
        <p:spPr>
          <a:xfrm>
            <a:off x="661475" y="2471043"/>
            <a:ext cx="5359663" cy="219571"/>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Posicionamiento Avanzado</a:t>
            </a:r>
            <a:endParaRPr lang="en-US" sz="1350" dirty="0"/>
          </a:p>
        </p:txBody>
      </p:sp>
      <p:sp>
        <p:nvSpPr>
          <p:cNvPr id="6" name="Text 3"/>
          <p:cNvSpPr/>
          <p:nvPr/>
        </p:nvSpPr>
        <p:spPr>
          <a:xfrm>
            <a:off x="661475" y="2762250"/>
            <a:ext cx="5359663" cy="6368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CSS2 introdujo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position: absolute</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position: fixed</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y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position: relative</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permitiendo controlar con precisión la ubicación de elementos en la página. También añadió la propiedad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z-index</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para gestionar la superposición de capas.</a:t>
            </a:r>
            <a:endParaRPr lang="en-US" sz="11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0458" y="1970286"/>
            <a:ext cx="351424" cy="351433"/>
          </a:xfrm>
          <a:prstGeom prst="rect">
            <a:avLst/>
          </a:prstGeom>
        </p:spPr>
      </p:pic>
      <p:sp>
        <p:nvSpPr>
          <p:cNvPr id="8" name="Text 4"/>
          <p:cNvSpPr/>
          <p:nvPr/>
        </p:nvSpPr>
        <p:spPr>
          <a:xfrm>
            <a:off x="6170458" y="2471043"/>
            <a:ext cx="5359762" cy="219571"/>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Tipos de Medio (Media Types)</a:t>
            </a:r>
            <a:endParaRPr lang="en-US" sz="1350" dirty="0"/>
          </a:p>
        </p:txBody>
      </p:sp>
      <p:sp>
        <p:nvSpPr>
          <p:cNvPr id="9" name="Text 5"/>
          <p:cNvSpPr/>
          <p:nvPr/>
        </p:nvSpPr>
        <p:spPr>
          <a:xfrm>
            <a:off x="6170458" y="2762250"/>
            <a:ext cx="5359762" cy="63053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Por primera vez, CSS permitía definir estilos diferentes según el dispositivo de salida: pantalla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screen</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impresora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print</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proyectores, dispositivos auditivos, etc. Esto sentó las bases del diseño adaptable (</a:t>
            </a:r>
            <a:pPr algn="l" indent="0" marL="0">
              <a:lnSpc>
                <a:spcPct val="123000"/>
              </a:lnSpc>
              <a:buNone/>
            </a:pPr>
            <a:r>
              <a:rPr lang="en-US" sz="1100" i="1" dirty="0">
                <a:solidFill>
                  <a:srgbClr val="272525"/>
                </a:solidFill>
                <a:latin typeface="Inter" pitchFamily="34" charset="0"/>
                <a:ea typeface="Inter" pitchFamily="34" charset="-122"/>
                <a:cs typeface="Inter" pitchFamily="34" charset="-120"/>
              </a:rPr>
              <a:t>responsive design</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a:t>
            </a:r>
            <a:endParaRPr lang="en-US" sz="11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638054"/>
            <a:ext cx="351424" cy="351433"/>
          </a:xfrm>
          <a:prstGeom prst="rect">
            <a:avLst/>
          </a:prstGeom>
        </p:spPr>
      </p:pic>
      <p:sp>
        <p:nvSpPr>
          <p:cNvPr id="11" name="Text 6"/>
          <p:cNvSpPr/>
          <p:nvPr/>
        </p:nvSpPr>
        <p:spPr>
          <a:xfrm>
            <a:off x="661475" y="4138811"/>
            <a:ext cx="5359663" cy="219571"/>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Accesibilidad Mejorada</a:t>
            </a:r>
            <a:endParaRPr lang="en-US" sz="1350" dirty="0"/>
          </a:p>
        </p:txBody>
      </p:sp>
      <p:sp>
        <p:nvSpPr>
          <p:cNvPr id="12" name="Text 7"/>
          <p:cNvSpPr/>
          <p:nvPr/>
        </p:nvSpPr>
        <p:spPr>
          <a:xfrm>
            <a:off x="661475" y="4430018"/>
            <a:ext cx="5359663" cy="6368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CSS2 añadió propiedades específicas para mejorar la accesibilidad, como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cursor</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controles de voz y estilos para dispositivos de salida auditiva. También introdujo pseudo-clases como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:hover</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:focus</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y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:active</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a:t>
            </a:r>
            <a:endParaRPr lang="en-US" sz="11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0458" y="3638054"/>
            <a:ext cx="351424" cy="351433"/>
          </a:xfrm>
          <a:prstGeom prst="rect">
            <a:avLst/>
          </a:prstGeom>
        </p:spPr>
      </p:pic>
      <p:sp>
        <p:nvSpPr>
          <p:cNvPr id="14" name="Text 8"/>
          <p:cNvSpPr/>
          <p:nvPr/>
        </p:nvSpPr>
        <p:spPr>
          <a:xfrm>
            <a:off x="6170458" y="4138811"/>
            <a:ext cx="5359762" cy="219571"/>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Fuentes Descargables</a:t>
            </a:r>
            <a:endParaRPr lang="en-US" sz="1350" dirty="0"/>
          </a:p>
        </p:txBody>
      </p:sp>
      <p:sp>
        <p:nvSpPr>
          <p:cNvPr id="15" name="Text 9"/>
          <p:cNvSpPr/>
          <p:nvPr/>
        </p:nvSpPr>
        <p:spPr>
          <a:xfrm>
            <a:off x="6170458" y="4430018"/>
            <a:ext cx="5359762" cy="83859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La propiedad </a:t>
            </a:r>
            <a:pPr algn="l" indent="0" marL="0">
              <a:lnSpc>
                <a:spcPct val="123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@font-face</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permitió a los diseñadores usar tipografías personalizadas en la web, rompiendo la limitación de depender únicamente de las fuentes instaladas en el dispositivo del usuario. Una revolución tipográfica para la web.</a:t>
            </a:r>
            <a:endParaRPr lang="en-US" sz="1100" dirty="0"/>
          </a:p>
        </p:txBody>
      </p:sp>
      <p:sp>
        <p:nvSpPr>
          <p:cNvPr id="16" name="Shape 10"/>
          <p:cNvSpPr/>
          <p:nvPr/>
        </p:nvSpPr>
        <p:spPr>
          <a:xfrm>
            <a:off x="661475" y="5402957"/>
            <a:ext cx="10868745" cy="713284"/>
          </a:xfrm>
          <a:prstGeom prst="roundRect">
            <a:avLst>
              <a:gd name="adj" fmla="val 8278"/>
            </a:avLst>
          </a:prstGeom>
          <a:solidFill>
            <a:srgbClr val="DADBF1"/>
          </a:solidFill>
          <a:ln/>
        </p:spPr>
      </p:sp>
      <p:pic>
        <p:nvPicPr>
          <p:cNvPr id="17" name="Image 4" descr="preencoded.png">    </p:cNvPr>
          <p:cNvPicPr>
            <a:picLocks noChangeAspect="1"/>
          </p:cNvPicPr>
          <p:nvPr/>
        </p:nvPicPr>
        <p:blipFill>
          <a:blip r:embed="rId9"/>
          <a:stretch>
            <a:fillRect/>
          </a:stretch>
        </p:blipFill>
        <p:spPr>
          <a:xfrm>
            <a:off x="801965" y="5595342"/>
            <a:ext cx="175712" cy="140494"/>
          </a:xfrm>
          <a:prstGeom prst="rect">
            <a:avLst/>
          </a:prstGeom>
        </p:spPr>
      </p:pic>
      <p:sp>
        <p:nvSpPr>
          <p:cNvPr id="18" name="Text 11"/>
          <p:cNvSpPr/>
          <p:nvPr/>
        </p:nvSpPr>
        <p:spPr>
          <a:xfrm>
            <a:off x="1118167" y="5557540"/>
            <a:ext cx="10271563" cy="416123"/>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000000"/>
                </a:solidFill>
                <a:latin typeface="Inter Bold" pitchFamily="34" charset="0"/>
                <a:ea typeface="Inter Bold" pitchFamily="34" charset="-122"/>
                <a:cs typeface="Inter Bold" pitchFamily="34" charset="-120"/>
              </a:rPr>
              <a:t>CSS2.1 (2011):</a:t>
            </a:r>
            <a:pPr algn="l" indent="0" marL="0">
              <a:lnSpc>
                <a:spcPct val="123000"/>
              </a:lnSpc>
              <a:buNone/>
            </a:pPr>
            <a:r>
              <a:rPr lang="en-US" sz="1100" dirty="0">
                <a:solidFill>
                  <a:srgbClr val="000000"/>
                </a:solidFill>
                <a:latin typeface="Inter" pitchFamily="34" charset="0"/>
                <a:ea typeface="Inter" pitchFamily="34" charset="-122"/>
                <a:cs typeface="Inter" pitchFamily="34" charset="-120"/>
              </a:rPr>
              <a:t> Tras años de trabajo, el W3C publicó CSS2.1 como una revisión que eliminaba características poco implementadas, corregía errores y consolidaba las prácticas que los navegadores ya soportaban de forma consistente. Es considerado el estándar más estable de la historia de CSS.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50875"/>
            <a:ext cx="10868745" cy="450552"/>
          </a:xfrm>
          <a:prstGeom prst="rect">
            <a:avLst/>
          </a:prstGeom>
          <a:noFill/>
          <a:ln/>
        </p:spPr>
        <p:txBody>
          <a:bodyPr wrap="none" lIns="0" tIns="0" rIns="0" bIns="0" rtlCol="0" anchor="t"/>
          <a:lstStyle/>
          <a:p>
            <a:pPr algn="l" indent="0" marL="0">
              <a:lnSpc>
                <a:spcPct val="104000"/>
              </a:lnSpc>
              <a:buNone/>
            </a:pPr>
            <a:r>
              <a:rPr lang="en-US" sz="2800" b="1" dirty="0">
                <a:solidFill>
                  <a:srgbClr val="000000"/>
                </a:solidFill>
                <a:latin typeface="Inter Bold" pitchFamily="34" charset="0"/>
                <a:ea typeface="Inter Bold" pitchFamily="34" charset="-122"/>
                <a:cs typeface="Inter Bold" pitchFamily="34" charset="-120"/>
              </a:rPr>
              <a:t>CSS3: La Modularización en Especificaciones Independientes</a:t>
            </a:r>
            <a:endParaRPr lang="en-US" sz="2800" dirty="0"/>
          </a:p>
        </p:txBody>
      </p:sp>
      <p:sp>
        <p:nvSpPr>
          <p:cNvPr id="3" name="Text 1"/>
          <p:cNvSpPr/>
          <p:nvPr/>
        </p:nvSpPr>
        <p:spPr>
          <a:xfrm>
            <a:off x="661475" y="1352848"/>
            <a:ext cx="10868745" cy="6474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A diferencia de sus predecesores, CSS3 no es una especificación única y monolítica. El W3C tomó la decisión estratégica de </a:t>
            </a:r>
            <a:pPr algn="l" indent="0" marL="0">
              <a:lnSpc>
                <a:spcPct val="125000"/>
              </a:lnSpc>
              <a:buNone/>
            </a:pPr>
            <a:r>
              <a:rPr lang="en-US" sz="1100" b="1" dirty="0">
                <a:solidFill>
                  <a:srgbClr val="272525"/>
                </a:solidFill>
                <a:latin typeface="Inter Bold" pitchFamily="34" charset="0"/>
                <a:ea typeface="Inter Bold" pitchFamily="34" charset="-122"/>
                <a:cs typeface="Inter Bold" pitchFamily="34" charset="-120"/>
              </a:rPr>
              <a:t>dividir CSS en módulos independientes</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cada uno con su propio ciclo de desarrollo y nivel de madurez. Esto permitió que las nuevas características llegaran a los navegadores mucho más rápido.</a:t>
            </a:r>
            <a:endParaRPr lang="en-US" sz="1100" dirty="0"/>
          </a:p>
        </p:txBody>
      </p:sp>
      <p:sp>
        <p:nvSpPr>
          <p:cNvPr id="4" name="Shape 2"/>
          <p:cNvSpPr/>
          <p:nvPr/>
        </p:nvSpPr>
        <p:spPr>
          <a:xfrm>
            <a:off x="661475" y="2141637"/>
            <a:ext cx="5371470" cy="1033363"/>
          </a:xfrm>
          <a:prstGeom prst="roundRect">
            <a:avLst>
              <a:gd name="adj" fmla="val 5861"/>
            </a:avLst>
          </a:prstGeom>
          <a:solidFill>
            <a:srgbClr val="DADBF1"/>
          </a:solidFill>
          <a:ln w="6350">
            <a:solidFill>
              <a:srgbClr val="C0C1D7"/>
            </a:solidFill>
            <a:prstDash val="solid"/>
          </a:ln>
        </p:spPr>
      </p:sp>
      <p:sp>
        <p:nvSpPr>
          <p:cNvPr id="5" name="Text 3"/>
          <p:cNvSpPr/>
          <p:nvPr/>
        </p:nvSpPr>
        <p:spPr>
          <a:xfrm>
            <a:off x="811986" y="2292152"/>
            <a:ext cx="5070447"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 Selectores y Colores</a:t>
            </a:r>
            <a:endParaRPr lang="en-US" sz="1400" dirty="0"/>
          </a:p>
        </p:txBody>
      </p:sp>
      <p:sp>
        <p:nvSpPr>
          <p:cNvPr id="6" name="Text 4"/>
          <p:cNvSpPr/>
          <p:nvPr/>
        </p:nvSpPr>
        <p:spPr>
          <a:xfrm>
            <a:off x="811986" y="2592884"/>
            <a:ext cx="5070447" cy="4316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Selectores avanzados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:nth-child</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[atributo^="valor"]</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gradientes, transparencia RGBA/HSLA y sombras con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box-shadow</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y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text-shadow</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a:t>
            </a:r>
            <a:endParaRPr lang="en-US" sz="1100" dirty="0"/>
          </a:p>
        </p:txBody>
      </p:sp>
      <p:sp>
        <p:nvSpPr>
          <p:cNvPr id="7" name="Shape 5"/>
          <p:cNvSpPr/>
          <p:nvPr/>
        </p:nvSpPr>
        <p:spPr>
          <a:xfrm>
            <a:off x="6158651" y="2141637"/>
            <a:ext cx="5371569" cy="1033363"/>
          </a:xfrm>
          <a:prstGeom prst="roundRect">
            <a:avLst>
              <a:gd name="adj" fmla="val 5861"/>
            </a:avLst>
          </a:prstGeom>
          <a:solidFill>
            <a:srgbClr val="DADBF1"/>
          </a:solidFill>
          <a:ln w="6350">
            <a:solidFill>
              <a:srgbClr val="C0C1D7"/>
            </a:solidFill>
            <a:prstDash val="solid"/>
          </a:ln>
        </p:spPr>
      </p:sp>
      <p:sp>
        <p:nvSpPr>
          <p:cNvPr id="8" name="Text 6"/>
          <p:cNvSpPr/>
          <p:nvPr/>
        </p:nvSpPr>
        <p:spPr>
          <a:xfrm>
            <a:off x="6309162" y="2292152"/>
            <a:ext cx="5070547"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 Diseño y Layout</a:t>
            </a:r>
            <a:endParaRPr lang="en-US" sz="1400" dirty="0"/>
          </a:p>
        </p:txBody>
      </p:sp>
      <p:sp>
        <p:nvSpPr>
          <p:cNvPr id="9" name="Text 7"/>
          <p:cNvSpPr/>
          <p:nvPr/>
        </p:nvSpPr>
        <p:spPr>
          <a:xfrm>
            <a:off x="6309162" y="2592884"/>
            <a:ext cx="5070547" cy="4316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Flexbox, CSS Grid, Multi-column layout y propiedades de transformación 2D/3D revolucionaron la forma de maquetar páginas web complejas.</a:t>
            </a:r>
            <a:endParaRPr lang="en-US" sz="1100" dirty="0"/>
          </a:p>
        </p:txBody>
      </p:sp>
      <p:sp>
        <p:nvSpPr>
          <p:cNvPr id="10" name="Shape 8"/>
          <p:cNvSpPr/>
          <p:nvPr/>
        </p:nvSpPr>
        <p:spPr>
          <a:xfrm>
            <a:off x="661475" y="3300710"/>
            <a:ext cx="5371470" cy="1249164"/>
          </a:xfrm>
          <a:prstGeom prst="roundRect">
            <a:avLst>
              <a:gd name="adj" fmla="val 4848"/>
            </a:avLst>
          </a:prstGeom>
          <a:solidFill>
            <a:srgbClr val="DADBF1"/>
          </a:solidFill>
          <a:ln w="6350">
            <a:solidFill>
              <a:srgbClr val="C0C1D7"/>
            </a:solidFill>
            <a:prstDash val="solid"/>
          </a:ln>
        </p:spPr>
      </p:sp>
      <p:sp>
        <p:nvSpPr>
          <p:cNvPr id="11" name="Text 9"/>
          <p:cNvSpPr/>
          <p:nvPr/>
        </p:nvSpPr>
        <p:spPr>
          <a:xfrm>
            <a:off x="811986" y="3451225"/>
            <a:ext cx="5070447"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 Animaciones y Transiciones</a:t>
            </a:r>
            <a:endParaRPr lang="en-US" sz="1400" dirty="0"/>
          </a:p>
        </p:txBody>
      </p:sp>
      <p:sp>
        <p:nvSpPr>
          <p:cNvPr id="12" name="Text 10"/>
          <p:cNvSpPr/>
          <p:nvPr/>
        </p:nvSpPr>
        <p:spPr>
          <a:xfrm>
            <a:off x="811986" y="3751957"/>
            <a:ext cx="5070447" cy="6474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Las propiedades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transition</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animation</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y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@keyframes</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permitieron crear animaciones fluidas sin necesidad de JavaScript, mejorando la experiencia de usuario.</a:t>
            </a:r>
            <a:endParaRPr lang="en-US" sz="1100" dirty="0"/>
          </a:p>
        </p:txBody>
      </p:sp>
      <p:sp>
        <p:nvSpPr>
          <p:cNvPr id="13" name="Shape 11"/>
          <p:cNvSpPr/>
          <p:nvPr/>
        </p:nvSpPr>
        <p:spPr>
          <a:xfrm>
            <a:off x="6158651" y="3300710"/>
            <a:ext cx="5371569" cy="1249164"/>
          </a:xfrm>
          <a:prstGeom prst="roundRect">
            <a:avLst>
              <a:gd name="adj" fmla="val 4848"/>
            </a:avLst>
          </a:prstGeom>
          <a:solidFill>
            <a:srgbClr val="DADBF1"/>
          </a:solidFill>
          <a:ln w="6350">
            <a:solidFill>
              <a:srgbClr val="C0C1D7"/>
            </a:solidFill>
            <a:prstDash val="solid"/>
          </a:ln>
        </p:spPr>
      </p:sp>
      <p:sp>
        <p:nvSpPr>
          <p:cNvPr id="14" name="Text 12"/>
          <p:cNvSpPr/>
          <p:nvPr/>
        </p:nvSpPr>
        <p:spPr>
          <a:xfrm>
            <a:off x="6309162" y="3451225"/>
            <a:ext cx="5070547"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 Responsive Design</a:t>
            </a:r>
            <a:endParaRPr lang="en-US" sz="1400" dirty="0"/>
          </a:p>
        </p:txBody>
      </p:sp>
      <p:sp>
        <p:nvSpPr>
          <p:cNvPr id="15" name="Text 13"/>
          <p:cNvSpPr/>
          <p:nvPr/>
        </p:nvSpPr>
        <p:spPr>
          <a:xfrm>
            <a:off x="6309162" y="3751957"/>
            <a:ext cx="5070547" cy="6474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Las </a:t>
            </a:r>
            <a:pPr algn="l" indent="0" marL="0">
              <a:lnSpc>
                <a:spcPct val="125000"/>
              </a:lnSpc>
              <a:buNone/>
            </a:pPr>
            <a:r>
              <a:rPr lang="en-US" sz="1100" i="1" dirty="0">
                <a:solidFill>
                  <a:srgbClr val="272525"/>
                </a:solidFill>
                <a:latin typeface="Inter" pitchFamily="34" charset="0"/>
                <a:ea typeface="Inter" pitchFamily="34" charset="-122"/>
                <a:cs typeface="Inter" pitchFamily="34" charset="-120"/>
              </a:rPr>
              <a:t>Media Queries</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a:t>
            </a:r>
            <a:pPr algn="l" indent="0" marL="0">
              <a:lnSpc>
                <a:spcPct val="125000"/>
              </a:lnSpc>
              <a:buNone/>
            </a:pPr>
            <a:r>
              <a:rPr lang="en-US" sz="1100" dirty="0">
                <a:solidFill>
                  <a:srgbClr val="272525"/>
                </a:solidFill>
                <a:highlight>
                  <a:srgbClr val="F2F2F2"/>
                </a:highlight>
                <a:latin typeface="Consolas" pitchFamily="34" charset="0"/>
                <a:ea typeface="Consolas" pitchFamily="34" charset="-122"/>
                <a:cs typeface="Consolas" pitchFamily="34" charset="-120"/>
              </a:rPr>
              <a:t>@media</a:t>
            </a:r>
            <a:pPr algn="l" indent="0" marL="0">
              <a:lnSpc>
                <a:spcPct val="125000"/>
              </a:lnSpc>
              <a:buNone/>
            </a:pPr>
            <a:r>
              <a:rPr lang="en-US" sz="1100" dirty="0">
                <a:solidFill>
                  <a:srgbClr val="272525"/>
                </a:solidFill>
                <a:latin typeface="Inter" pitchFamily="34" charset="0"/>
                <a:ea typeface="Inter" pitchFamily="34" charset="-122"/>
                <a:cs typeface="Inter" pitchFamily="34" charset="-120"/>
              </a:rPr>
              <a:t>) permitieron adaptar el diseño a diferentes tamaños de pantalla, haciendo posible el diseño responsivo que domina la web actual.</a:t>
            </a:r>
            <a:endParaRPr lang="en-US" sz="1100" dirty="0"/>
          </a:p>
        </p:txBody>
      </p:sp>
      <p:sp>
        <p:nvSpPr>
          <p:cNvPr id="16" name="Text 14"/>
          <p:cNvSpPr/>
          <p:nvPr/>
        </p:nvSpPr>
        <p:spPr>
          <a:xfrm>
            <a:off x="661475" y="4816971"/>
            <a:ext cx="5258462"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Niveles de madurez del W3C</a:t>
            </a:r>
            <a:endParaRPr lang="en-US" sz="1400" dirty="0"/>
          </a:p>
        </p:txBody>
      </p:sp>
      <p:sp>
        <p:nvSpPr>
          <p:cNvPr id="17" name="Text 15"/>
          <p:cNvSpPr/>
          <p:nvPr/>
        </p:nvSpPr>
        <p:spPr>
          <a:xfrm>
            <a:off x="661475" y="5168007"/>
            <a:ext cx="5258462" cy="995065"/>
          </a:xfrm>
          <a:prstGeom prst="rect">
            <a:avLst/>
          </a:prstGeom>
          <a:noFill/>
          <a:ln/>
        </p:spPr>
        <p:txBody>
          <a:bodyPr wrap="square" lIns="0" tIns="0" rIns="0" bIns="0" rtlCol="0" anchor="t">
            <a:normAutofit/>
          </a:bodyPr>
          <a:lstStyle/>
          <a:p>
            <a:pPr algn="l" marL="223520" indent="-223520">
              <a:lnSpc>
                <a:spcPct val="125000"/>
              </a:lnSpc>
              <a:buSzPct val="100000"/>
              <a:buChar char="•"/>
            </a:pPr>
            <a:r>
              <a:rPr lang="en-US" sz="1100" b="1" dirty="0">
                <a:solidFill>
                  <a:srgbClr val="272525"/>
                </a:solidFill>
                <a:latin typeface="Inter Bold" pitchFamily="34" charset="0"/>
                <a:ea typeface="Inter Bold" pitchFamily="34" charset="-122"/>
                <a:cs typeface="Inter Bold" pitchFamily="34" charset="-120"/>
              </a:rPr>
              <a:t>Working Draft (WD):</a:t>
            </a:r>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 Borrador inicial en desarrollo</a:t>
            </a:r>
            <a:endParaRPr lang="en-US" sz="1100" dirty="0"/>
          </a:p>
          <a:p>
            <a:pPr algn="l" marL="223520" indent="-223520">
              <a:lnSpc>
                <a:spcPct val="125000"/>
              </a:lnSpc>
              <a:buSzPct val="100000"/>
              <a:buChar char="•"/>
            </a:pPr>
            <a:r>
              <a:rPr lang="en-US" sz="1100" b="1" dirty="0">
                <a:solidFill>
                  <a:srgbClr val="272525"/>
                </a:solidFill>
                <a:latin typeface="Inter Bold" pitchFamily="34" charset="0"/>
                <a:ea typeface="Inter Bold" pitchFamily="34" charset="-122"/>
                <a:cs typeface="Inter Bold" pitchFamily="34" charset="-120"/>
              </a:rPr>
              <a:t>Candidate Recommendation (CR):</a:t>
            </a:r>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 Lista para implementación</a:t>
            </a:r>
            <a:endParaRPr lang="en-US" sz="1100" dirty="0"/>
          </a:p>
          <a:p>
            <a:pPr algn="l" marL="223520" indent="-223520">
              <a:lnSpc>
                <a:spcPct val="125000"/>
              </a:lnSpc>
              <a:buSzPct val="100000"/>
              <a:buChar char="•"/>
            </a:pPr>
            <a:r>
              <a:rPr lang="en-US" sz="1100" b="1" dirty="0">
                <a:solidFill>
                  <a:srgbClr val="272525"/>
                </a:solidFill>
                <a:latin typeface="Inter Bold" pitchFamily="34" charset="0"/>
                <a:ea typeface="Inter Bold" pitchFamily="34" charset="-122"/>
                <a:cs typeface="Inter Bold" pitchFamily="34" charset="-120"/>
              </a:rPr>
              <a:t>Proposed Recommendation (PR):</a:t>
            </a:r>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 Revisada por el W3C</a:t>
            </a:r>
            <a:endParaRPr lang="en-US" sz="1100" dirty="0"/>
          </a:p>
          <a:p>
            <a:pPr algn="l" marL="223520" indent="-223520">
              <a:lnSpc>
                <a:spcPct val="125000"/>
              </a:lnSpc>
              <a:buSzPct val="100000"/>
              <a:buChar char="•"/>
            </a:pPr>
            <a:r>
              <a:rPr lang="en-US" sz="1100" b="1" dirty="0">
                <a:solidFill>
                  <a:srgbClr val="272525"/>
                </a:solidFill>
                <a:latin typeface="Inter Bold" pitchFamily="34" charset="0"/>
                <a:ea typeface="Inter Bold" pitchFamily="34" charset="-122"/>
                <a:cs typeface="Inter Bold" pitchFamily="34" charset="-120"/>
              </a:rPr>
              <a:t>W3C Recommendation (REC):</a:t>
            </a:r>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 Estándar oficial final</a:t>
            </a:r>
            <a:endParaRPr lang="en-US" sz="1100" dirty="0"/>
          </a:p>
        </p:txBody>
      </p:sp>
      <p:sp>
        <p:nvSpPr>
          <p:cNvPr id="18" name="Text 16"/>
          <p:cNvSpPr/>
          <p:nvPr/>
        </p:nvSpPr>
        <p:spPr>
          <a:xfrm>
            <a:off x="6278108" y="4816971"/>
            <a:ext cx="5258462" cy="225326"/>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Ventajas de la modularización</a:t>
            </a:r>
            <a:endParaRPr lang="en-US" sz="1400" dirty="0"/>
          </a:p>
        </p:txBody>
      </p:sp>
      <p:sp>
        <p:nvSpPr>
          <p:cNvPr id="19" name="Text 17"/>
          <p:cNvSpPr/>
          <p:nvPr/>
        </p:nvSpPr>
        <p:spPr>
          <a:xfrm>
            <a:off x="6278108" y="5168007"/>
            <a:ext cx="5258462" cy="995065"/>
          </a:xfrm>
          <a:prstGeom prst="rect">
            <a:avLst/>
          </a:prstGeom>
          <a:noFill/>
          <a:ln/>
        </p:spPr>
        <p:txBody>
          <a:bodyPr wrap="square" lIns="0" tIns="0" rIns="0" bIns="0" rtlCol="0" anchor="t">
            <a:normAutofit/>
          </a:bodyPr>
          <a:lstStyle/>
          <a:p>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Los navegadores pueden implementar módulos de forma independiente</a:t>
            </a:r>
            <a:endParaRPr lang="en-US" sz="1100" dirty="0"/>
          </a:p>
          <a:p>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Las nuevas características llegan más rápido a los usuarios</a:t>
            </a:r>
            <a:endParaRPr lang="en-US" sz="1100" dirty="0"/>
          </a:p>
          <a:p>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Cada módulo evoluciona a su propio ritmo</a:t>
            </a:r>
            <a:endParaRPr lang="en-US" sz="1100" dirty="0"/>
          </a:p>
          <a:p>
            <a:pPr algn="l" marL="223520" indent="-223520">
              <a:lnSpc>
                <a:spcPct val="125000"/>
              </a:lnSpc>
              <a:buSzPct val="100000"/>
              <a:buChar char="•"/>
            </a:pPr>
            <a:r>
              <a:rPr lang="en-US" sz="1100" dirty="0">
                <a:solidFill>
                  <a:srgbClr val="272525"/>
                </a:solidFill>
                <a:latin typeface="Inter" pitchFamily="34" charset="0"/>
                <a:ea typeface="Inter" pitchFamily="34" charset="-122"/>
                <a:cs typeface="Inter" pitchFamily="34" charset="-120"/>
              </a:rPr>
              <a:t>Mayor estabilidad en las especificaciones maduras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13767"/>
            <a:ext cx="10868745" cy="413445"/>
          </a:xfrm>
          <a:prstGeom prst="rect">
            <a:avLst/>
          </a:prstGeom>
          <a:noFill/>
          <a:ln/>
        </p:spPr>
        <p:txBody>
          <a:bodyPr wrap="none" lIns="0" tIns="0" rIns="0" bIns="0" rtlCol="0" anchor="t"/>
          <a:lstStyle/>
          <a:p>
            <a:pPr algn="l" indent="0" marL="0">
              <a:lnSpc>
                <a:spcPct val="104000"/>
              </a:lnSpc>
              <a:buNone/>
            </a:pPr>
            <a:r>
              <a:rPr lang="en-US" sz="2600" b="1" dirty="0">
                <a:solidFill>
                  <a:srgbClr val="000000"/>
                </a:solidFill>
                <a:latin typeface="Inter Bold" pitchFamily="34" charset="0"/>
                <a:ea typeface="Inter Bold" pitchFamily="34" charset="-122"/>
                <a:cs typeface="Inter Bold" pitchFamily="34" charset="-120"/>
              </a:rPr>
              <a:t>Formas de Vincular CSS a HTML</a:t>
            </a:r>
            <a:endParaRPr lang="en-US" sz="2600" dirty="0"/>
          </a:p>
        </p:txBody>
      </p:sp>
      <p:sp>
        <p:nvSpPr>
          <p:cNvPr id="3" name="Text 1"/>
          <p:cNvSpPr/>
          <p:nvPr/>
        </p:nvSpPr>
        <p:spPr>
          <a:xfrm>
            <a:off x="661475" y="1238845"/>
            <a:ext cx="10868745"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Existen tres métodos principales para aplicar estilos CSS a un documento HTML, cada uno con sus ventajas y casos de uso específicos. Comprender cuándo usar cada método es fundamental para escribir código limpio y mantenible.</a:t>
            </a:r>
            <a:endParaRPr lang="en-US" sz="10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738908"/>
            <a:ext cx="3552339" cy="3738166"/>
          </a:xfrm>
          <a:prstGeom prst="rect">
            <a:avLst/>
          </a:prstGeom>
        </p:spPr>
      </p:pic>
      <p:sp>
        <p:nvSpPr>
          <p:cNvPr id="5" name="Text 2"/>
          <p:cNvSpPr/>
          <p:nvPr/>
        </p:nvSpPr>
        <p:spPr>
          <a:xfrm>
            <a:off x="2338428" y="1829197"/>
            <a:ext cx="198433" cy="248047"/>
          </a:xfrm>
          <a:prstGeom prst="rect">
            <a:avLst/>
          </a:prstGeom>
          <a:noFill/>
          <a:ln/>
        </p:spPr>
        <p:txBody>
          <a:bodyPr wrap="none" lIns="0" tIns="0" rIns="0" bIns="0" rtlCol="0" anchor="ctr"/>
          <a:lstStyle/>
          <a:p>
            <a:pPr algn="ctr" indent="0" marL="0">
              <a:lnSpc>
                <a:spcPct val="100000"/>
              </a:lnSpc>
              <a:buNone/>
            </a:pPr>
            <a:r>
              <a:rPr lang="en-US" sz="1550" b="1" dirty="0">
                <a:solidFill>
                  <a:srgbClr val="272525"/>
                </a:solidFill>
                <a:latin typeface="Inter Bold" pitchFamily="34" charset="0"/>
                <a:ea typeface="Inter Bold" pitchFamily="34" charset="-122"/>
                <a:cs typeface="Inter Bold" pitchFamily="34" charset="-120"/>
              </a:rPr>
              <a:t>1</a:t>
            </a:r>
            <a:endParaRPr lang="en-US" sz="1550" dirty="0"/>
          </a:p>
        </p:txBody>
      </p:sp>
      <p:sp>
        <p:nvSpPr>
          <p:cNvPr id="6" name="Text 3"/>
          <p:cNvSpPr/>
          <p:nvPr/>
        </p:nvSpPr>
        <p:spPr>
          <a:xfrm>
            <a:off x="812780" y="2260600"/>
            <a:ext cx="3249730" cy="206673"/>
          </a:xfrm>
          <a:prstGeom prst="rect">
            <a:avLst/>
          </a:prstGeom>
          <a:noFill/>
          <a:ln/>
        </p:spPr>
        <p:txBody>
          <a:bodyPr wrap="none" lIns="0" tIns="0" rIns="0" bIns="0" rtlCol="0" anchor="t"/>
          <a:lstStyle/>
          <a:p>
            <a:pPr algn="l"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CSS en Línea (Inline)</a:t>
            </a:r>
            <a:endParaRPr lang="en-US" sz="1300" dirty="0"/>
          </a:p>
        </p:txBody>
      </p:sp>
      <p:sp>
        <p:nvSpPr>
          <p:cNvPr id="7" name="Text 4"/>
          <p:cNvSpPr/>
          <p:nvPr/>
        </p:nvSpPr>
        <p:spPr>
          <a:xfrm>
            <a:off x="812780" y="2530773"/>
            <a:ext cx="3249730" cy="76835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Los estilos se aplican directamente en la etiqueta HTML mediante el atributo </a:t>
            </a:r>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style</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Es el método de </a:t>
            </a:r>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mayor prioridad</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en la cascada, pero el menos recomendado para proyectos grandes.</a:t>
            </a:r>
            <a:endParaRPr lang="en-US" sz="1000" dirty="0"/>
          </a:p>
        </p:txBody>
      </p:sp>
      <p:sp>
        <p:nvSpPr>
          <p:cNvPr id="8" name="Shape 5"/>
          <p:cNvSpPr/>
          <p:nvPr/>
        </p:nvSpPr>
        <p:spPr>
          <a:xfrm>
            <a:off x="812780" y="3418185"/>
            <a:ext cx="3249730" cy="836017"/>
          </a:xfrm>
          <a:prstGeom prst="roundRect">
            <a:avLst>
              <a:gd name="adj" fmla="val 6647"/>
            </a:avLst>
          </a:prstGeom>
          <a:solidFill>
            <a:srgbClr val="F2F2F2"/>
          </a:solidFill>
          <a:ln/>
        </p:spPr>
      </p:sp>
      <p:sp>
        <p:nvSpPr>
          <p:cNvPr id="9" name="Shape 6"/>
          <p:cNvSpPr/>
          <p:nvPr/>
        </p:nvSpPr>
        <p:spPr>
          <a:xfrm>
            <a:off x="806231" y="3418185"/>
            <a:ext cx="3262826" cy="836017"/>
          </a:xfrm>
          <a:prstGeom prst="roundRect">
            <a:avLst>
              <a:gd name="adj" fmla="val 2374"/>
            </a:avLst>
          </a:prstGeom>
          <a:solidFill>
            <a:srgbClr val="F2F2F2"/>
          </a:solidFill>
          <a:ln/>
        </p:spPr>
      </p:sp>
      <p:sp>
        <p:nvSpPr>
          <p:cNvPr id="10" name="Text 7"/>
          <p:cNvSpPr/>
          <p:nvPr/>
        </p:nvSpPr>
        <p:spPr>
          <a:xfrm>
            <a:off x="971526" y="3550444"/>
            <a:ext cx="2932238"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Consolas" pitchFamily="34" charset="0"/>
                <a:ea typeface="Consolas" pitchFamily="34" charset="-122"/>
                <a:cs typeface="Consolas" pitchFamily="34" charset="-120"/>
              </a:rPr>
              <a:t>&lt;p style="color: red; font-size: 16px;"&gt;</a:t>
            </a:r>
            <a:endParaRPr lang="en-US" sz="1000" dirty="0"/>
          </a:p>
          <a:p>
            <a:pPr algn="l" indent="0" marL="0">
              <a:lnSpc>
                <a:spcPct val="120000"/>
              </a:lnSpc>
              <a:buNone/>
            </a:pPr>
            <a:r>
              <a:rPr lang="en-US" sz="1000" dirty="0">
                <a:solidFill>
                  <a:srgbClr val="272525"/>
                </a:solidFill>
                <a:latin typeface="Consolas" pitchFamily="34" charset="0"/>
                <a:ea typeface="Consolas" pitchFamily="34" charset="-122"/>
                <a:cs typeface="Consolas" pitchFamily="34" charset="-120"/>
              </a:rPr>
              <a:t>  Texto con estilo en línea</a:t>
            </a:r>
            <a:endParaRPr lang="en-US" sz="1000" dirty="0"/>
          </a:p>
          <a:p>
            <a:pPr algn="l" indent="0" marL="0">
              <a:lnSpc>
                <a:spcPct val="120000"/>
              </a:lnSpc>
              <a:buNone/>
            </a:pPr>
            <a:r>
              <a:rPr lang="en-US" sz="1000" dirty="0">
                <a:solidFill>
                  <a:srgbClr val="272525"/>
                </a:solidFill>
                <a:latin typeface="Consolas" pitchFamily="34" charset="0"/>
                <a:ea typeface="Consolas" pitchFamily="34" charset="-122"/>
                <a:cs typeface="Consolas" pitchFamily="34" charset="-120"/>
              </a:rPr>
              <a:t>&lt;/p&gt;</a:t>
            </a:r>
            <a:endParaRPr lang="en-US" sz="1000" dirty="0"/>
          </a:p>
        </p:txBody>
      </p:sp>
      <p:sp>
        <p:nvSpPr>
          <p:cNvPr id="11" name="Text 8"/>
          <p:cNvSpPr/>
          <p:nvPr/>
        </p:nvSpPr>
        <p:spPr>
          <a:xfrm>
            <a:off x="812780" y="4373265"/>
            <a:ext cx="3249730" cy="5715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Uso recomendado:</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Estilos únicos y puntuales, correcciones rápidas o estilos generados dinámicamente por JavaScript.</a:t>
            </a:r>
            <a:endParaRPr lang="en-US" sz="10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9579" y="1738908"/>
            <a:ext cx="3552438" cy="3738166"/>
          </a:xfrm>
          <a:prstGeom prst="rect">
            <a:avLst/>
          </a:prstGeom>
        </p:spPr>
      </p:pic>
      <p:sp>
        <p:nvSpPr>
          <p:cNvPr id="13" name="Text 9"/>
          <p:cNvSpPr/>
          <p:nvPr/>
        </p:nvSpPr>
        <p:spPr>
          <a:xfrm>
            <a:off x="5996532" y="1829197"/>
            <a:ext cx="198433" cy="248047"/>
          </a:xfrm>
          <a:prstGeom prst="rect">
            <a:avLst/>
          </a:prstGeom>
          <a:noFill/>
          <a:ln/>
        </p:spPr>
        <p:txBody>
          <a:bodyPr wrap="none" lIns="0" tIns="0" rIns="0" bIns="0" rtlCol="0" anchor="ctr"/>
          <a:lstStyle/>
          <a:p>
            <a:pPr algn="ctr" indent="0" marL="0">
              <a:lnSpc>
                <a:spcPct val="100000"/>
              </a:lnSpc>
              <a:buNone/>
            </a:pPr>
            <a:r>
              <a:rPr lang="en-US" sz="1550" b="1" dirty="0">
                <a:solidFill>
                  <a:srgbClr val="272525"/>
                </a:solidFill>
                <a:latin typeface="Inter Bold" pitchFamily="34" charset="0"/>
                <a:ea typeface="Inter Bold" pitchFamily="34" charset="-122"/>
                <a:cs typeface="Inter Bold" pitchFamily="34" charset="-120"/>
              </a:rPr>
              <a:t>2</a:t>
            </a:r>
            <a:endParaRPr lang="en-US" sz="1550" dirty="0"/>
          </a:p>
        </p:txBody>
      </p:sp>
      <p:sp>
        <p:nvSpPr>
          <p:cNvPr id="14" name="Text 10"/>
          <p:cNvSpPr/>
          <p:nvPr/>
        </p:nvSpPr>
        <p:spPr>
          <a:xfrm>
            <a:off x="4470883" y="2260600"/>
            <a:ext cx="3249829" cy="206673"/>
          </a:xfrm>
          <a:prstGeom prst="rect">
            <a:avLst/>
          </a:prstGeom>
          <a:noFill/>
          <a:ln/>
        </p:spPr>
        <p:txBody>
          <a:bodyPr wrap="none" lIns="0" tIns="0" rIns="0" bIns="0" rtlCol="0" anchor="t"/>
          <a:lstStyle/>
          <a:p>
            <a:pPr algn="l"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CSS Interno (Internal)</a:t>
            </a:r>
            <a:endParaRPr lang="en-US" sz="1300" dirty="0"/>
          </a:p>
        </p:txBody>
      </p:sp>
      <p:sp>
        <p:nvSpPr>
          <p:cNvPr id="15" name="Text 11"/>
          <p:cNvSpPr/>
          <p:nvPr/>
        </p:nvSpPr>
        <p:spPr>
          <a:xfrm>
            <a:off x="4470883" y="2530773"/>
            <a:ext cx="3249829" cy="57785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Los estilos se definen dentro del documento HTML, en la sección </a:t>
            </a:r>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&lt;head&gt;</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usando la etiqueta </a:t>
            </a:r>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&lt;style&gt;</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Útil para páginas únicas o prototipos rápidos.</a:t>
            </a:r>
            <a:endParaRPr lang="en-US" sz="1000" dirty="0"/>
          </a:p>
        </p:txBody>
      </p:sp>
      <p:sp>
        <p:nvSpPr>
          <p:cNvPr id="16" name="Shape 12"/>
          <p:cNvSpPr/>
          <p:nvPr/>
        </p:nvSpPr>
        <p:spPr>
          <a:xfrm>
            <a:off x="4470883" y="3227685"/>
            <a:ext cx="3249829" cy="1407517"/>
          </a:xfrm>
          <a:prstGeom prst="roundRect">
            <a:avLst>
              <a:gd name="adj" fmla="val 3948"/>
            </a:avLst>
          </a:prstGeom>
          <a:solidFill>
            <a:srgbClr val="F2F2F2"/>
          </a:solidFill>
          <a:ln/>
        </p:spPr>
      </p:sp>
      <p:sp>
        <p:nvSpPr>
          <p:cNvPr id="17" name="Shape 13"/>
          <p:cNvSpPr/>
          <p:nvPr/>
        </p:nvSpPr>
        <p:spPr>
          <a:xfrm>
            <a:off x="4464335" y="3227685"/>
            <a:ext cx="3262925" cy="1407517"/>
          </a:xfrm>
          <a:prstGeom prst="roundRect">
            <a:avLst>
              <a:gd name="adj" fmla="val 1410"/>
            </a:avLst>
          </a:prstGeom>
          <a:solidFill>
            <a:srgbClr val="F2F2F2"/>
          </a:solidFill>
          <a:ln/>
        </p:spPr>
      </p:sp>
      <p:sp>
        <p:nvSpPr>
          <p:cNvPr id="18" name="Text 14"/>
          <p:cNvSpPr/>
          <p:nvPr/>
        </p:nvSpPr>
        <p:spPr>
          <a:xfrm>
            <a:off x="4629629" y="3359944"/>
            <a:ext cx="2932337" cy="1143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&lt;head&gt;</a:t>
            </a:r>
            <a:endParaRPr lang="en-US" sz="1000" dirty="0"/>
          </a:p>
          <a:p>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&lt;style&gt;</a:t>
            </a:r>
            <a:endParaRPr lang="en-US" sz="1000" dirty="0"/>
          </a:p>
          <a:p>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p { color: blue; }</a:t>
            </a:r>
            <a:endParaRPr lang="en-US" sz="1000" dirty="0"/>
          </a:p>
          <a:p>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.destacado { font-weight: bold; }</a:t>
            </a:r>
            <a:endParaRPr lang="en-US" sz="1000" dirty="0"/>
          </a:p>
          <a:p>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&lt;/style&gt;</a:t>
            </a:r>
            <a:endParaRPr lang="en-US" sz="1000" dirty="0"/>
          </a:p>
          <a:p>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&lt;/head&gt;</a:t>
            </a:r>
            <a:endParaRPr lang="en-US" sz="1000" dirty="0"/>
          </a:p>
        </p:txBody>
      </p:sp>
      <p:sp>
        <p:nvSpPr>
          <p:cNvPr id="19" name="Text 15"/>
          <p:cNvSpPr/>
          <p:nvPr/>
        </p:nvSpPr>
        <p:spPr>
          <a:xfrm>
            <a:off x="4470883" y="4754265"/>
            <a:ext cx="3249829" cy="5715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Uso recomendado:</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Páginas individuales, pruebas rápidas o cuando no es posible usar un archivo externo.</a:t>
            </a:r>
            <a:endParaRPr lang="en-US" sz="1000" dirty="0"/>
          </a:p>
        </p:txBody>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77782" y="1738908"/>
            <a:ext cx="3552438" cy="3738166"/>
          </a:xfrm>
          <a:prstGeom prst="rect">
            <a:avLst/>
          </a:prstGeom>
        </p:spPr>
      </p:pic>
      <p:sp>
        <p:nvSpPr>
          <p:cNvPr id="21" name="Text 16"/>
          <p:cNvSpPr/>
          <p:nvPr/>
        </p:nvSpPr>
        <p:spPr>
          <a:xfrm>
            <a:off x="9654735" y="1829197"/>
            <a:ext cx="198433" cy="248047"/>
          </a:xfrm>
          <a:prstGeom prst="rect">
            <a:avLst/>
          </a:prstGeom>
          <a:noFill/>
          <a:ln/>
        </p:spPr>
        <p:txBody>
          <a:bodyPr wrap="none" lIns="0" tIns="0" rIns="0" bIns="0" rtlCol="0" anchor="ctr"/>
          <a:lstStyle/>
          <a:p>
            <a:pPr algn="ctr" indent="0" marL="0">
              <a:lnSpc>
                <a:spcPct val="100000"/>
              </a:lnSpc>
              <a:buNone/>
            </a:pPr>
            <a:r>
              <a:rPr lang="en-US" sz="1550" b="1" dirty="0">
                <a:solidFill>
                  <a:srgbClr val="272525"/>
                </a:solidFill>
                <a:latin typeface="Inter Bold" pitchFamily="34" charset="0"/>
                <a:ea typeface="Inter Bold" pitchFamily="34" charset="-122"/>
                <a:cs typeface="Inter Bold" pitchFamily="34" charset="-120"/>
              </a:rPr>
              <a:t>3</a:t>
            </a:r>
            <a:endParaRPr lang="en-US" sz="1550" dirty="0"/>
          </a:p>
        </p:txBody>
      </p:sp>
      <p:sp>
        <p:nvSpPr>
          <p:cNvPr id="22" name="Text 17"/>
          <p:cNvSpPr/>
          <p:nvPr/>
        </p:nvSpPr>
        <p:spPr>
          <a:xfrm>
            <a:off x="8129086" y="2260600"/>
            <a:ext cx="3249829" cy="206673"/>
          </a:xfrm>
          <a:prstGeom prst="rect">
            <a:avLst/>
          </a:prstGeom>
          <a:noFill/>
          <a:ln/>
        </p:spPr>
        <p:txBody>
          <a:bodyPr wrap="none" lIns="0" tIns="0" rIns="0" bIns="0" rtlCol="0" anchor="t"/>
          <a:lstStyle/>
          <a:p>
            <a:pPr algn="l"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CSS Externo (External)</a:t>
            </a:r>
            <a:endParaRPr lang="en-US" sz="1300" dirty="0"/>
          </a:p>
        </p:txBody>
      </p:sp>
      <p:sp>
        <p:nvSpPr>
          <p:cNvPr id="23" name="Text 18"/>
          <p:cNvSpPr/>
          <p:nvPr/>
        </p:nvSpPr>
        <p:spPr>
          <a:xfrm>
            <a:off x="8129086" y="2530773"/>
            <a:ext cx="3249829" cy="7747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Los estilos se escriben en un archivo </a:t>
            </a:r>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.css</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separado y se vinculan al HTML mediante la etiqueta </a:t>
            </a:r>
            <a:pPr algn="l" indent="0" marL="0">
              <a:lnSpc>
                <a:spcPct val="1200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&lt;link&gt;</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Es el método </a:t>
            </a:r>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más recomendado</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para proyectos profesionales.</a:t>
            </a:r>
            <a:endParaRPr lang="en-US" sz="1000" dirty="0"/>
          </a:p>
        </p:txBody>
      </p:sp>
      <p:sp>
        <p:nvSpPr>
          <p:cNvPr id="24" name="Shape 19"/>
          <p:cNvSpPr/>
          <p:nvPr/>
        </p:nvSpPr>
        <p:spPr>
          <a:xfrm>
            <a:off x="8129086" y="3424535"/>
            <a:ext cx="3249829" cy="1026517"/>
          </a:xfrm>
          <a:prstGeom prst="roundRect">
            <a:avLst>
              <a:gd name="adj" fmla="val 5414"/>
            </a:avLst>
          </a:prstGeom>
          <a:solidFill>
            <a:srgbClr val="F2F2F2"/>
          </a:solidFill>
          <a:ln/>
        </p:spPr>
      </p:sp>
      <p:sp>
        <p:nvSpPr>
          <p:cNvPr id="25" name="Shape 20"/>
          <p:cNvSpPr/>
          <p:nvPr/>
        </p:nvSpPr>
        <p:spPr>
          <a:xfrm>
            <a:off x="8122538" y="3424535"/>
            <a:ext cx="3262925" cy="1026517"/>
          </a:xfrm>
          <a:prstGeom prst="roundRect">
            <a:avLst>
              <a:gd name="adj" fmla="val 1933"/>
            </a:avLst>
          </a:prstGeom>
          <a:solidFill>
            <a:srgbClr val="F2F2F2"/>
          </a:solidFill>
          <a:ln/>
        </p:spPr>
      </p:sp>
      <p:sp>
        <p:nvSpPr>
          <p:cNvPr id="26" name="Text 21"/>
          <p:cNvSpPr/>
          <p:nvPr/>
        </p:nvSpPr>
        <p:spPr>
          <a:xfrm>
            <a:off x="8287833" y="3556794"/>
            <a:ext cx="2932337"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Consolas" pitchFamily="34" charset="0"/>
                <a:ea typeface="Consolas" pitchFamily="34" charset="-122"/>
                <a:cs typeface="Consolas" pitchFamily="34" charset="-120"/>
              </a:rPr>
              <a:t>&lt;head&gt;</a:t>
            </a:r>
            <a:endParaRPr lang="en-US" sz="1000" dirty="0"/>
          </a:p>
          <a:p>
            <a:pPr algn="l" indent="0" marL="0">
              <a:lnSpc>
                <a:spcPct val="120000"/>
              </a:lnSpc>
              <a:buNone/>
            </a:pPr>
            <a:r>
              <a:rPr lang="en-US" sz="1000" dirty="0">
                <a:solidFill>
                  <a:srgbClr val="272525"/>
                </a:solidFill>
                <a:latin typeface="Consolas" pitchFamily="34" charset="0"/>
                <a:ea typeface="Consolas" pitchFamily="34" charset="-122"/>
                <a:cs typeface="Consolas" pitchFamily="34" charset="-120"/>
              </a:rPr>
              <a:t>  &lt;link rel="stylesheet" </a:t>
            </a:r>
            <a:endParaRPr lang="en-US" sz="1000" dirty="0"/>
          </a:p>
          <a:p>
            <a:pPr algn="l" indent="0" marL="0">
              <a:lnSpc>
                <a:spcPct val="120000"/>
              </a:lnSpc>
              <a:buNone/>
            </a:pPr>
            <a:r>
              <a:rPr lang="en-US" sz="1000" dirty="0">
                <a:solidFill>
                  <a:srgbClr val="272525"/>
                </a:solidFill>
                <a:latin typeface="Consolas" pitchFamily="34" charset="0"/>
                <a:ea typeface="Consolas" pitchFamily="34" charset="-122"/>
                <a:cs typeface="Consolas" pitchFamily="34" charset="-120"/>
              </a:rPr>
              <a:t>        href="estilos.css"&gt;</a:t>
            </a:r>
            <a:endParaRPr lang="en-US" sz="1000" dirty="0"/>
          </a:p>
          <a:p>
            <a:pPr algn="l" indent="0" marL="0">
              <a:lnSpc>
                <a:spcPct val="120000"/>
              </a:lnSpc>
              <a:buNone/>
            </a:pPr>
            <a:r>
              <a:rPr lang="en-US" sz="1000" dirty="0">
                <a:solidFill>
                  <a:srgbClr val="272525"/>
                </a:solidFill>
                <a:latin typeface="Consolas" pitchFamily="34" charset="0"/>
                <a:ea typeface="Consolas" pitchFamily="34" charset="-122"/>
                <a:cs typeface="Consolas" pitchFamily="34" charset="-120"/>
              </a:rPr>
              <a:t>&lt;/head&gt;</a:t>
            </a:r>
            <a:endParaRPr lang="en-US" sz="1000" dirty="0"/>
          </a:p>
        </p:txBody>
      </p:sp>
      <p:sp>
        <p:nvSpPr>
          <p:cNvPr id="27" name="Text 22"/>
          <p:cNvSpPr/>
          <p:nvPr/>
        </p:nvSpPr>
        <p:spPr>
          <a:xfrm>
            <a:off x="8129086" y="4570115"/>
            <a:ext cx="3249829" cy="5715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Uso recomendado:</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Todos los proyectos reales. Permite reutilizar estilos, mantener el código limpio y cachear el archivo CSS en el navegador.</a:t>
            </a:r>
            <a:endParaRPr lang="en-US" sz="1000" dirty="0"/>
          </a:p>
        </p:txBody>
      </p:sp>
      <p:sp>
        <p:nvSpPr>
          <p:cNvPr id="28" name="Shape 23"/>
          <p:cNvSpPr/>
          <p:nvPr/>
        </p:nvSpPr>
        <p:spPr>
          <a:xfrm>
            <a:off x="661475" y="5596136"/>
            <a:ext cx="10868745" cy="648097"/>
          </a:xfrm>
          <a:prstGeom prst="roundRect">
            <a:avLst>
              <a:gd name="adj" fmla="val 8575"/>
            </a:avLst>
          </a:prstGeom>
          <a:solidFill>
            <a:srgbClr val="B6D6FC"/>
          </a:solidFill>
          <a:ln/>
        </p:spPr>
      </p:sp>
      <p:pic>
        <p:nvPicPr>
          <p:cNvPr id="29" name="Image 3" descr="preencoded.png">    </p:cNvPr>
          <p:cNvPicPr>
            <a:picLocks noChangeAspect="1"/>
          </p:cNvPicPr>
          <p:nvPr/>
        </p:nvPicPr>
        <p:blipFill>
          <a:blip r:embed="rId7"/>
          <a:stretch>
            <a:fillRect/>
          </a:stretch>
        </p:blipFill>
        <p:spPr>
          <a:xfrm>
            <a:off x="793730" y="5778996"/>
            <a:ext cx="165294" cy="132259"/>
          </a:xfrm>
          <a:prstGeom prst="rect">
            <a:avLst/>
          </a:prstGeom>
        </p:spPr>
      </p:pic>
      <p:sp>
        <p:nvSpPr>
          <p:cNvPr id="30" name="Text 24"/>
          <p:cNvSpPr/>
          <p:nvPr/>
        </p:nvSpPr>
        <p:spPr>
          <a:xfrm>
            <a:off x="1091280" y="5734943"/>
            <a:ext cx="10306685" cy="3810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000000"/>
                </a:solidFill>
                <a:latin typeface="Inter Bold" pitchFamily="34" charset="0"/>
                <a:ea typeface="Inter Bold" pitchFamily="34" charset="-122"/>
                <a:cs typeface="Inter Bold" pitchFamily="34" charset="-120"/>
              </a:rPr>
              <a:t>Orden de prioridad en la cascada:</a:t>
            </a:r>
            <a:pPr algn="l" indent="0" marL="0">
              <a:lnSpc>
                <a:spcPct val="120000"/>
              </a:lnSpc>
              <a:buNone/>
            </a:pPr>
            <a:r>
              <a:rPr lang="en-US" sz="1000" dirty="0">
                <a:solidFill>
                  <a:srgbClr val="000000"/>
                </a:solidFill>
                <a:latin typeface="Inter" pitchFamily="34" charset="0"/>
                <a:ea typeface="Inter" pitchFamily="34" charset="-122"/>
                <a:cs typeface="Inter" pitchFamily="34" charset="-120"/>
              </a:rPr>
              <a:t> En línea &gt; Interno &gt; Externo. Sin embargo, la especificidad del selector y el orden de carga también influyen en qué estilo se aplica finalmente.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35298"/>
            <a:ext cx="10868745" cy="465138"/>
          </a:xfrm>
          <a:prstGeom prst="rect">
            <a:avLst/>
          </a:prstGeom>
          <a:noFill/>
          <a:ln/>
        </p:spPr>
        <p:txBody>
          <a:bodyPr wrap="none" lIns="0" tIns="0" rIns="0" bIns="0" rtlCol="0" anchor="t"/>
          <a:lstStyle/>
          <a:p>
            <a:pPr algn="l" indent="0" marL="0">
              <a:lnSpc>
                <a:spcPct val="104000"/>
              </a:lnSpc>
              <a:buNone/>
            </a:pPr>
            <a:r>
              <a:rPr lang="en-US" sz="2900" b="1" dirty="0">
                <a:solidFill>
                  <a:srgbClr val="000000"/>
                </a:solidFill>
                <a:latin typeface="Inter Bold" pitchFamily="34" charset="0"/>
                <a:ea typeface="Inter Bold" pitchFamily="34" charset="-122"/>
                <a:cs typeface="Inter Bold" pitchFamily="34" charset="-120"/>
              </a:rPr>
              <a:t>Evolución de Propiedades: De lo Básico a Flexbox y Grid</a:t>
            </a:r>
            <a:endParaRPr lang="en-US" sz="2900" dirty="0"/>
          </a:p>
        </p:txBody>
      </p:sp>
      <p:sp>
        <p:nvSpPr>
          <p:cNvPr id="3" name="Text 1"/>
          <p:cNvSpPr/>
          <p:nvPr/>
        </p:nvSpPr>
        <p:spPr>
          <a:xfrm>
            <a:off x="661475" y="1368326"/>
            <a:ext cx="10868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La evolución de las propiedades CSS refleja cómo el diseño web pasó de documentos simples a aplicaciones complejas e interactivas. Cada generación de propiedades resolvió problemas reales que los desarrolladores enfrentaban en su día a día.</a:t>
            </a:r>
            <a:endParaRPr lang="en-US" sz="1150" dirty="0"/>
          </a:p>
        </p:txBody>
      </p:sp>
      <p:sp>
        <p:nvSpPr>
          <p:cNvPr id="4" name="Shape 2"/>
          <p:cNvSpPr/>
          <p:nvPr/>
        </p:nvSpPr>
        <p:spPr>
          <a:xfrm>
            <a:off x="884711" y="2343547"/>
            <a:ext cx="5144066" cy="148828"/>
          </a:xfrm>
          <a:prstGeom prst="roundRect">
            <a:avLst>
              <a:gd name="adj" fmla="val 42007"/>
            </a:avLst>
          </a:prstGeom>
          <a:solidFill>
            <a:srgbClr val="DADBF1"/>
          </a:solidFill>
          <a:ln w="6350">
            <a:solidFill>
              <a:srgbClr val="C0C1D7"/>
            </a:solidFill>
            <a:prstDash val="solid"/>
          </a:ln>
        </p:spPr>
      </p:sp>
      <p:sp>
        <p:nvSpPr>
          <p:cNvPr id="5" name="Shape 3"/>
          <p:cNvSpPr/>
          <p:nvPr/>
        </p:nvSpPr>
        <p:spPr>
          <a:xfrm>
            <a:off x="661475" y="2194719"/>
            <a:ext cx="446473" cy="446484"/>
          </a:xfrm>
          <a:prstGeom prst="ellipse">
            <a:avLst/>
          </a:prstGeom>
          <a:solidFill>
            <a:srgbClr val="DADBF1"/>
          </a:solidFill>
          <a:ln w="6350">
            <a:solidFill>
              <a:srgbClr val="C0C1D7"/>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3093" y="2306340"/>
            <a:ext cx="223237" cy="223242"/>
          </a:xfrm>
          <a:prstGeom prst="rect">
            <a:avLst/>
          </a:prstGeom>
        </p:spPr>
      </p:pic>
      <p:sp>
        <p:nvSpPr>
          <p:cNvPr id="7" name="Text 4"/>
          <p:cNvSpPr/>
          <p:nvPr/>
        </p:nvSpPr>
        <p:spPr>
          <a:xfrm>
            <a:off x="810299" y="2775148"/>
            <a:ext cx="5069753"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Inter Bold" pitchFamily="34" charset="0"/>
                <a:ea typeface="Inter Bold" pitchFamily="34" charset="-122"/>
                <a:cs typeface="Inter Bold" pitchFamily="34" charset="-120"/>
              </a:rPr>
              <a:t>Propiedades Básicas (CSS1–2)</a:t>
            </a:r>
            <a:endParaRPr lang="en-US" sz="1450" dirty="0"/>
          </a:p>
        </p:txBody>
      </p:sp>
      <p:sp>
        <p:nvSpPr>
          <p:cNvPr id="8" name="Text 5"/>
          <p:cNvSpPr/>
          <p:nvPr/>
        </p:nvSpPr>
        <p:spPr>
          <a:xfrm>
            <a:off x="810299" y="3087985"/>
            <a:ext cx="5069753"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color</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font-family</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margin</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padding</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border</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background</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Control visual fundamental para textos, colores y espaciados. Eran suficientes para documentos simples, pero insuficientes para layouts complejos.</a:t>
            </a:r>
            <a:endParaRPr lang="en-US" sz="1150" dirty="0"/>
          </a:p>
        </p:txBody>
      </p:sp>
      <p:sp>
        <p:nvSpPr>
          <p:cNvPr id="9" name="Shape 6"/>
          <p:cNvSpPr/>
          <p:nvPr/>
        </p:nvSpPr>
        <p:spPr>
          <a:xfrm>
            <a:off x="6386055" y="2120305"/>
            <a:ext cx="5144066" cy="148828"/>
          </a:xfrm>
          <a:prstGeom prst="roundRect">
            <a:avLst>
              <a:gd name="adj" fmla="val 42007"/>
            </a:avLst>
          </a:prstGeom>
          <a:solidFill>
            <a:srgbClr val="DADBF1"/>
          </a:solidFill>
          <a:ln w="6350">
            <a:solidFill>
              <a:srgbClr val="C0C1D7"/>
            </a:solidFill>
            <a:prstDash val="solid"/>
          </a:ln>
        </p:spPr>
      </p:sp>
      <p:sp>
        <p:nvSpPr>
          <p:cNvPr id="10" name="Shape 7"/>
          <p:cNvSpPr/>
          <p:nvPr/>
        </p:nvSpPr>
        <p:spPr>
          <a:xfrm>
            <a:off x="6162818" y="1971477"/>
            <a:ext cx="446473" cy="446484"/>
          </a:xfrm>
          <a:prstGeom prst="ellipse">
            <a:avLst/>
          </a:prstGeom>
          <a:solidFill>
            <a:srgbClr val="DADBF1"/>
          </a:solidFill>
          <a:ln w="6350">
            <a:solidFill>
              <a:srgbClr val="C0C1D7"/>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4437" y="2083098"/>
            <a:ext cx="223237" cy="223242"/>
          </a:xfrm>
          <a:prstGeom prst="rect">
            <a:avLst/>
          </a:prstGeom>
        </p:spPr>
      </p:pic>
      <p:sp>
        <p:nvSpPr>
          <p:cNvPr id="12" name="Text 8"/>
          <p:cNvSpPr/>
          <p:nvPr/>
        </p:nvSpPr>
        <p:spPr>
          <a:xfrm>
            <a:off x="6311643" y="2551906"/>
            <a:ext cx="5069753"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Inter Bold" pitchFamily="34" charset="0"/>
                <a:ea typeface="Inter Bold" pitchFamily="34" charset="-122"/>
                <a:cs typeface="Inter Bold" pitchFamily="34" charset="-120"/>
              </a:rPr>
              <a:t>Posicionamiento y Layout (CSS2)</a:t>
            </a:r>
            <a:endParaRPr lang="en-US" sz="1450" dirty="0"/>
          </a:p>
        </p:txBody>
      </p:sp>
      <p:sp>
        <p:nvSpPr>
          <p:cNvPr id="13" name="Text 9"/>
          <p:cNvSpPr/>
          <p:nvPr/>
        </p:nvSpPr>
        <p:spPr>
          <a:xfrm>
            <a:off x="6311643" y="2864743"/>
            <a:ext cx="5069753"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position</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(absolute, relative, fixed),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float</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clear</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z-index</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Permitieron crear columnas y estructuras más complejas, aunque con limitaciones importantes. El uso de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float</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para layouts fue un "hack" muy extendido.</a:t>
            </a:r>
            <a:endParaRPr lang="en-US" sz="1150" dirty="0"/>
          </a:p>
        </p:txBody>
      </p:sp>
      <p:sp>
        <p:nvSpPr>
          <p:cNvPr id="14" name="Shape 10"/>
          <p:cNvSpPr/>
          <p:nvPr/>
        </p:nvSpPr>
        <p:spPr>
          <a:xfrm>
            <a:off x="884711" y="4421485"/>
            <a:ext cx="5144066" cy="148828"/>
          </a:xfrm>
          <a:prstGeom prst="roundRect">
            <a:avLst>
              <a:gd name="adj" fmla="val 42007"/>
            </a:avLst>
          </a:prstGeom>
          <a:solidFill>
            <a:srgbClr val="DADBF1"/>
          </a:solidFill>
          <a:ln w="6350">
            <a:solidFill>
              <a:srgbClr val="C0C1D7"/>
            </a:solidFill>
            <a:prstDash val="solid"/>
          </a:ln>
        </p:spPr>
      </p:sp>
      <p:sp>
        <p:nvSpPr>
          <p:cNvPr id="15" name="Shape 11"/>
          <p:cNvSpPr/>
          <p:nvPr/>
        </p:nvSpPr>
        <p:spPr>
          <a:xfrm>
            <a:off x="661475" y="4272657"/>
            <a:ext cx="446473" cy="446484"/>
          </a:xfrm>
          <a:prstGeom prst="ellipse">
            <a:avLst/>
          </a:prstGeom>
          <a:solidFill>
            <a:srgbClr val="DADBF1"/>
          </a:solidFill>
          <a:ln w="6350">
            <a:solidFill>
              <a:srgbClr val="C0C1D7"/>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093" y="4384278"/>
            <a:ext cx="223237" cy="223242"/>
          </a:xfrm>
          <a:prstGeom prst="rect">
            <a:avLst/>
          </a:prstGeom>
        </p:spPr>
      </p:pic>
      <p:sp>
        <p:nvSpPr>
          <p:cNvPr id="17" name="Text 12"/>
          <p:cNvSpPr/>
          <p:nvPr/>
        </p:nvSpPr>
        <p:spPr>
          <a:xfrm>
            <a:off x="810299" y="4853087"/>
            <a:ext cx="5069753"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Inter Bold" pitchFamily="34" charset="0"/>
                <a:ea typeface="Inter Bold" pitchFamily="34" charset="-122"/>
                <a:cs typeface="Inter Bold" pitchFamily="34" charset="-120"/>
              </a:rPr>
              <a:t>Flexbox (CSS3, ~2012)</a:t>
            </a:r>
            <a:endParaRPr lang="en-US" sz="1450" dirty="0"/>
          </a:p>
        </p:txBody>
      </p:sp>
      <p:sp>
        <p:nvSpPr>
          <p:cNvPr id="18" name="Text 13"/>
          <p:cNvSpPr/>
          <p:nvPr/>
        </p:nvSpPr>
        <p:spPr>
          <a:xfrm>
            <a:off x="810299" y="5165923"/>
            <a:ext cx="5069753" cy="904875"/>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display: flex</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justify-content</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align-items</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flex-direction</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Revolucionó el diseño unidimensional, permitiendo distribuir espacio y alinear elementos de forma sencilla y responsiva. Ideal para barras de navegación, tarjetas y componentes.</a:t>
            </a:r>
            <a:endParaRPr lang="en-US" sz="1150" dirty="0"/>
          </a:p>
        </p:txBody>
      </p:sp>
      <p:sp>
        <p:nvSpPr>
          <p:cNvPr id="19" name="Shape 14"/>
          <p:cNvSpPr/>
          <p:nvPr/>
        </p:nvSpPr>
        <p:spPr>
          <a:xfrm>
            <a:off x="6386055" y="4198243"/>
            <a:ext cx="5144066" cy="148828"/>
          </a:xfrm>
          <a:prstGeom prst="roundRect">
            <a:avLst>
              <a:gd name="adj" fmla="val 42007"/>
            </a:avLst>
          </a:prstGeom>
          <a:solidFill>
            <a:srgbClr val="DADBF1"/>
          </a:solidFill>
          <a:ln w="6350">
            <a:solidFill>
              <a:srgbClr val="C0C1D7"/>
            </a:solidFill>
            <a:prstDash val="solid"/>
          </a:ln>
        </p:spPr>
      </p:sp>
      <p:sp>
        <p:nvSpPr>
          <p:cNvPr id="20" name="Shape 15"/>
          <p:cNvSpPr/>
          <p:nvPr/>
        </p:nvSpPr>
        <p:spPr>
          <a:xfrm>
            <a:off x="6162818" y="4049415"/>
            <a:ext cx="446473" cy="446484"/>
          </a:xfrm>
          <a:prstGeom prst="ellipse">
            <a:avLst/>
          </a:prstGeom>
          <a:solidFill>
            <a:srgbClr val="DADBF1"/>
          </a:solidFill>
          <a:ln w="6350">
            <a:solidFill>
              <a:srgbClr val="C0C1D7"/>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74437" y="4161036"/>
            <a:ext cx="223237" cy="223242"/>
          </a:xfrm>
          <a:prstGeom prst="rect">
            <a:avLst/>
          </a:prstGeom>
        </p:spPr>
      </p:pic>
      <p:sp>
        <p:nvSpPr>
          <p:cNvPr id="22" name="Text 16"/>
          <p:cNvSpPr/>
          <p:nvPr/>
        </p:nvSpPr>
        <p:spPr>
          <a:xfrm>
            <a:off x="6311643" y="4629845"/>
            <a:ext cx="5069753" cy="232470"/>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Inter Bold" pitchFamily="34" charset="0"/>
                <a:ea typeface="Inter Bold" pitchFamily="34" charset="-122"/>
                <a:cs typeface="Inter Bold" pitchFamily="34" charset="-120"/>
              </a:rPr>
              <a:t>CSS Grid (CSS3, ~2017)</a:t>
            </a:r>
            <a:endParaRPr lang="en-US" sz="1450" dirty="0"/>
          </a:p>
        </p:txBody>
      </p:sp>
      <p:sp>
        <p:nvSpPr>
          <p:cNvPr id="23" name="Text 17"/>
          <p:cNvSpPr/>
          <p:nvPr/>
        </p:nvSpPr>
        <p:spPr>
          <a:xfrm>
            <a:off x="6311643" y="4942681"/>
            <a:ext cx="5069753" cy="1131094"/>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display: grid</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grid-template-columns</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grid-area</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a:t>
            </a:r>
            <a:pPr algn="l" indent="0" marL="0">
              <a:lnSpc>
                <a:spcPct val="127000"/>
              </a:lnSpc>
              <a:buNone/>
            </a:pPr>
            <a:r>
              <a:rPr lang="en-US" sz="1150" dirty="0">
                <a:solidFill>
                  <a:srgbClr val="272525"/>
                </a:solidFill>
                <a:highlight>
                  <a:srgbClr val="F2F2F2"/>
                </a:highlight>
                <a:latin typeface="Consolas" pitchFamily="34" charset="0"/>
                <a:ea typeface="Consolas" pitchFamily="34" charset="-122"/>
                <a:cs typeface="Consolas" pitchFamily="34" charset="-120"/>
              </a:rPr>
              <a:t>gap</a:t>
            </a:r>
            <a:pPr algn="l" indent="0" marL="0">
              <a:lnSpc>
                <a:spcPct val="127000"/>
              </a:lnSpc>
              <a:buNone/>
            </a:pPr>
            <a:r>
              <a:rPr lang="en-US" sz="1150" dirty="0">
                <a:solidFill>
                  <a:srgbClr val="272525"/>
                </a:solidFill>
                <a:latin typeface="Inter" pitchFamily="34" charset="0"/>
                <a:ea typeface="Inter" pitchFamily="34" charset="-122"/>
                <a:cs typeface="Inter" pitchFamily="34" charset="-120"/>
              </a:rPr>
              <a:t>. El sistema de diseño bidimensional más poderoso hasta la fecha. Permite crear layouts complejos con filas y columnas simultáneamente, eliminando la necesidad de frameworks externos como Bootstrap para la mayoría de casos.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8093"/>
            <a:ext cx="10868745" cy="21510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Ejemplo Práctico: HTML + CSS Moderno</a:t>
            </a:r>
            <a:endParaRPr lang="en-US" sz="1350" dirty="0"/>
          </a:p>
        </p:txBody>
      </p:sp>
      <p:sp>
        <p:nvSpPr>
          <p:cNvPr id="3" name="Text 1"/>
          <p:cNvSpPr/>
          <p:nvPr/>
        </p:nvSpPr>
        <p:spPr>
          <a:xfrm>
            <a:off x="661475" y="730548"/>
            <a:ext cx="11478330" cy="77986"/>
          </a:xfrm>
          <a:prstGeom prst="rect">
            <a:avLst/>
          </a:prstGeom>
          <a:noFill/>
          <a:ln/>
        </p:spPr>
        <p:txBody>
          <a:bodyPr wrap="none" lIns="0" tIns="0" rIns="0" bIns="0" rtlCol="0" anchor="t"/>
          <a:lstStyle/>
          <a:p>
            <a:pPr algn="l" indent="0" marL="0">
              <a:lnSpc>
                <a:spcPct val="94000"/>
              </a:lnSpc>
              <a:buNone/>
            </a:pPr>
            <a:r>
              <a:rPr lang="en-US" sz="500" dirty="0">
                <a:solidFill>
                  <a:srgbClr val="272525"/>
                </a:solidFill>
                <a:latin typeface="Inter" pitchFamily="34" charset="0"/>
                <a:ea typeface="Inter" pitchFamily="34" charset="-122"/>
                <a:cs typeface="Inter" pitchFamily="34" charset="-120"/>
              </a:rPr>
              <a:t>A continuación se muestra un ejemplo completo que integra las técnicas modernas de CSS: Flexbox para la navegación, CSS Grid para el layout principal, variables CSS para la consistencia visual y media queries para el diseño responsivo.</a:t>
            </a:r>
            <a:endParaRPr lang="en-US" sz="500" dirty="0"/>
          </a:p>
        </p:txBody>
      </p:sp>
      <p:sp>
        <p:nvSpPr>
          <p:cNvPr id="4" name="Text 2"/>
          <p:cNvSpPr/>
          <p:nvPr/>
        </p:nvSpPr>
        <p:spPr>
          <a:xfrm>
            <a:off x="661475" y="869454"/>
            <a:ext cx="5350436" cy="107652"/>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 Archivo HTML (index.html)</a:t>
            </a:r>
            <a:endParaRPr lang="en-US" sz="650" dirty="0"/>
          </a:p>
        </p:txBody>
      </p:sp>
      <p:sp>
        <p:nvSpPr>
          <p:cNvPr id="5" name="Shape 3"/>
          <p:cNvSpPr/>
          <p:nvPr/>
        </p:nvSpPr>
        <p:spPr>
          <a:xfrm>
            <a:off x="661475" y="1009352"/>
            <a:ext cx="5350436" cy="2945209"/>
          </a:xfrm>
          <a:prstGeom prst="roundRect">
            <a:avLst>
              <a:gd name="adj" fmla="val 982"/>
            </a:avLst>
          </a:prstGeom>
          <a:solidFill>
            <a:srgbClr val="F2F2F2"/>
          </a:solidFill>
          <a:ln/>
        </p:spPr>
      </p:sp>
      <p:sp>
        <p:nvSpPr>
          <p:cNvPr id="6" name="Shape 4"/>
          <p:cNvSpPr/>
          <p:nvPr/>
        </p:nvSpPr>
        <p:spPr>
          <a:xfrm>
            <a:off x="658102" y="1009352"/>
            <a:ext cx="5357182" cy="2945209"/>
          </a:xfrm>
          <a:prstGeom prst="roundRect">
            <a:avLst>
              <a:gd name="adj" fmla="val 351"/>
            </a:avLst>
          </a:prstGeom>
          <a:solidFill>
            <a:srgbClr val="F2F2F2"/>
          </a:solidFill>
          <a:ln/>
        </p:spPr>
      </p:sp>
      <p:sp>
        <p:nvSpPr>
          <p:cNvPr id="7" name="Text 5"/>
          <p:cNvSpPr/>
          <p:nvPr/>
        </p:nvSpPr>
        <p:spPr>
          <a:xfrm>
            <a:off x="744122" y="1078210"/>
            <a:ext cx="5185141" cy="2807494"/>
          </a:xfrm>
          <a:prstGeom prst="rect">
            <a:avLst/>
          </a:prstGeom>
          <a:noFill/>
          <a:ln/>
        </p:spPr>
        <p:txBody>
          <a:bodyPr wrap="square" lIns="0" tIns="0" rIns="0" bIns="0" rtlCol="0" anchor="t">
            <a:normAutofit/>
          </a:bodyPr>
          <a:lstStyle/>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&lt;!DOCTYPE html&gt;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&lt;html lang="es"&gt;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&lt;head&gt;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&lt;meta charset="UTF-8"&gt;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&lt;meta name="viewport" </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content="width=device-width"&gt;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&lt;title&gt;Mi Página CSS3&lt;/title&gt;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&lt;link rel="stylesheet" </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href="estilos.css"&gt;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&lt;/head&gt;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&lt;body&gt;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&lt;header class="navbar"&gt;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&lt;h1&gt;Mi Sitio Web&lt;/h1&gt;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&lt;nav&gt;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 href="#"&gt;Inicio&lt;/a&gt;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 href="#"&gt;Servicios&lt;/a&gt;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 href="#"&gt;Contacto&lt;/a&gt;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&lt;/nav&gt;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&lt;/header&gt;</a:t>
            </a:r>
            <a:endParaRPr lang="en-US" sz="500" dirty="0"/>
          </a:p>
          <a:p>
            <a:pPr algn="l" indent="0" marL="0">
              <a:lnSpc>
                <a:spcPct val="94000"/>
              </a:lnSpc>
              <a:buNone/>
            </a:pP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&lt;main class="grid-container"&gt;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&lt;article class="card"&gt;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&lt;h2&gt;Tarjeta 1&lt;/h2&gt;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&lt;p&gt;Contenido de ejemplo&lt;/p&gt;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&lt;/article&gt;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&lt;article class="card"&gt;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&lt;h2&gt;Tarjeta 2&lt;/h2&gt;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&lt;p&gt;Contenido de ejemplo&lt;/p&gt;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&lt;/article&gt;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&lt;article class="card"&gt;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&lt;h2&gt;Tarjeta 3&lt;/h2&gt;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&lt;p&gt;Contenido de ejemplo&lt;/p&gt;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&lt;/article&gt;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  &lt;/main&gt;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&lt;/body&gt;</a:t>
            </a:r>
            <a:endParaRPr lang="en-US" sz="500" dirty="0"/>
          </a:p>
          <a:p>
            <a:pPr algn="l" indent="0" marL="0">
              <a:lnSpc>
                <a:spcPct val="94000"/>
              </a:lnSpc>
              <a:buNone/>
            </a:pPr>
            <a:r>
              <a:rPr lang="en-US" sz="500" dirty="0">
                <a:solidFill>
                  <a:srgbClr val="005CC5"/>
                </a:solidFill>
                <a:highlight>
                  <a:srgbClr val="F2F2F2"/>
                </a:highlight>
                <a:latin typeface="Consolas" pitchFamily="34" charset="0"/>
                <a:ea typeface="Consolas" pitchFamily="34" charset="-122"/>
                <a:cs typeface="Consolas" pitchFamily="34" charset="-120"/>
              </a:rPr>
              <a:t>&lt;/html&gt;</a:t>
            </a:r>
            <a:endParaRPr lang="en-US" sz="500" dirty="0"/>
          </a:p>
        </p:txBody>
      </p:sp>
      <p:sp>
        <p:nvSpPr>
          <p:cNvPr id="8" name="Text 6"/>
          <p:cNvSpPr/>
          <p:nvPr/>
        </p:nvSpPr>
        <p:spPr>
          <a:xfrm>
            <a:off x="6186134" y="869454"/>
            <a:ext cx="5350436" cy="107652"/>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 Archivo CSS (estilos.css)</a:t>
            </a:r>
            <a:endParaRPr lang="en-US" sz="650" dirty="0"/>
          </a:p>
        </p:txBody>
      </p:sp>
      <p:sp>
        <p:nvSpPr>
          <p:cNvPr id="9" name="Shape 7"/>
          <p:cNvSpPr/>
          <p:nvPr/>
        </p:nvSpPr>
        <p:spPr>
          <a:xfrm>
            <a:off x="6186134" y="1009352"/>
            <a:ext cx="5350436" cy="4972844"/>
          </a:xfrm>
          <a:prstGeom prst="roundRect">
            <a:avLst>
              <a:gd name="adj" fmla="val 582"/>
            </a:avLst>
          </a:prstGeom>
          <a:solidFill>
            <a:srgbClr val="F2F2F2"/>
          </a:solidFill>
          <a:ln/>
        </p:spPr>
      </p:sp>
      <p:sp>
        <p:nvSpPr>
          <p:cNvPr id="10" name="Shape 8"/>
          <p:cNvSpPr/>
          <p:nvPr/>
        </p:nvSpPr>
        <p:spPr>
          <a:xfrm>
            <a:off x="6182761" y="1009352"/>
            <a:ext cx="5357182" cy="4972844"/>
          </a:xfrm>
          <a:prstGeom prst="roundRect">
            <a:avLst>
              <a:gd name="adj" fmla="val 208"/>
            </a:avLst>
          </a:prstGeom>
          <a:solidFill>
            <a:srgbClr val="F2F2F2"/>
          </a:solidFill>
          <a:ln/>
        </p:spPr>
      </p:sp>
      <p:sp>
        <p:nvSpPr>
          <p:cNvPr id="11" name="Text 9"/>
          <p:cNvSpPr/>
          <p:nvPr/>
        </p:nvSpPr>
        <p:spPr>
          <a:xfrm>
            <a:off x="6268781" y="1078210"/>
            <a:ext cx="5185141" cy="4835128"/>
          </a:xfrm>
          <a:prstGeom prst="rect">
            <a:avLst/>
          </a:prstGeom>
          <a:noFill/>
          <a:ln/>
        </p:spPr>
        <p:txBody>
          <a:bodyPr wrap="square" lIns="0" tIns="0" rIns="0" bIns="0" rtlCol="0" anchor="t">
            <a:normAutofit/>
          </a:bodyPr>
          <a:lstStyle/>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Variables CSS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:root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--color-primario: #3498db;</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--color-texto: #333;</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--espaciado: 1rem;</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a:p>
            <a:pPr algn="l" indent="0" marL="0">
              <a:lnSpc>
                <a:spcPct val="94000"/>
              </a:lnSpc>
              <a:buNone/>
            </a:pP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Reset básico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margin: 0;</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padding: 0;</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box-sizing: border-box;</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a:p>
            <a:pPr algn="l" indent="0" marL="0">
              <a:lnSpc>
                <a:spcPct val="94000"/>
              </a:lnSpc>
              <a:buNone/>
            </a:pP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Flexbox: Navbar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.navbar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display: flex;</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justify-content: space-between;</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align-items: center;</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padding: 1rem 2rem;</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background: var(--color-primario);</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color: white;</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a:p>
            <a:pPr algn="l" indent="0" marL="0">
              <a:lnSpc>
                <a:spcPct val="94000"/>
              </a:lnSpc>
              <a:buNone/>
            </a:pP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.navbar nav a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color: white;</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text-decoration: none;</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margin-left: 1rem;</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a:p>
            <a:pPr algn="l" indent="0" marL="0">
              <a:lnSpc>
                <a:spcPct val="94000"/>
              </a:lnSpc>
              <a:buNone/>
            </a:pP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CSS Grid: Layout principal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.grid-container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display: grid;</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grid-template-columns: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repeat(auto-fit, minmax(250px, 1fr));</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gap: var(--espaciado);</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padding: 2rem;</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a:p>
            <a:pPr algn="l" indent="0" marL="0">
              <a:lnSpc>
                <a:spcPct val="94000"/>
              </a:lnSpc>
              <a:buNone/>
            </a:pP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Tarjetas con sombra y transición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.card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background: white;</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padding: 1.5rem;</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border-radius: 8px;</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box-shadow: 0 2px 8px rgba(0,0,0,0.1);</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transition: transform 0.3s ease;</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a:p>
            <a:pPr algn="l" indent="0" marL="0">
              <a:lnSpc>
                <a:spcPct val="94000"/>
              </a:lnSpc>
              <a:buNone/>
            </a:pP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.card:hover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transform: translateY(-5px);</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a:p>
            <a:pPr algn="l" indent="0" marL="0">
              <a:lnSpc>
                <a:spcPct val="94000"/>
              </a:lnSpc>
              <a:buNone/>
            </a:pP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Media Query: Responsive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@media (max-width: 768px)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.navbar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flex-direction: column;</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gap: 1rem;</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.grid-container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grid-template-columns: 1fr;</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  }</a:t>
            </a:r>
            <a:endParaRPr lang="en-US" sz="500" dirty="0"/>
          </a:p>
          <a:p>
            <a:pPr algn="l" indent="0" marL="0">
              <a:lnSpc>
                <a:spcPct val="94000"/>
              </a:lnSpc>
              <a:buNone/>
            </a:pPr>
            <a:r>
              <a:rPr lang="en-US" sz="500" dirty="0">
                <a:solidFill>
                  <a:srgbClr val="6A737D"/>
                </a:solidFill>
                <a:highlight>
                  <a:srgbClr val="F2F2F2"/>
                </a:highlight>
                <a:latin typeface="Consolas" pitchFamily="34" charset="0"/>
                <a:ea typeface="Consolas" pitchFamily="34" charset="-122"/>
                <a:cs typeface="Consolas" pitchFamily="34" charset="-120"/>
              </a:rPr>
              <a:t>}</a:t>
            </a:r>
            <a:endParaRPr lang="en-US" sz="500" dirty="0"/>
          </a:p>
        </p:txBody>
      </p:sp>
      <p:sp>
        <p:nvSpPr>
          <p:cNvPr id="12" name="Shape 10"/>
          <p:cNvSpPr/>
          <p:nvPr/>
        </p:nvSpPr>
        <p:spPr>
          <a:xfrm>
            <a:off x="661475" y="6046688"/>
            <a:ext cx="2695607" cy="353219"/>
          </a:xfrm>
          <a:prstGeom prst="roundRect">
            <a:avLst>
              <a:gd name="adj" fmla="val 8189"/>
            </a:avLst>
          </a:prstGeom>
          <a:solidFill>
            <a:srgbClr val="DADBF1"/>
          </a:solidFill>
          <a:ln w="6350">
            <a:solidFill>
              <a:srgbClr val="C0C1D7"/>
            </a:solidFill>
            <a:prstDash val="solid"/>
          </a:ln>
        </p:spPr>
      </p:sp>
      <p:sp>
        <p:nvSpPr>
          <p:cNvPr id="13" name="Text 11"/>
          <p:cNvSpPr/>
          <p:nvPr/>
        </p:nvSpPr>
        <p:spPr>
          <a:xfrm>
            <a:off x="736681" y="6121896"/>
            <a:ext cx="2545195" cy="107652"/>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Variables CSS</a:t>
            </a:r>
            <a:endParaRPr lang="en-US" sz="650" dirty="0"/>
          </a:p>
        </p:txBody>
      </p:sp>
      <p:sp>
        <p:nvSpPr>
          <p:cNvPr id="14" name="Text 12"/>
          <p:cNvSpPr/>
          <p:nvPr/>
        </p:nvSpPr>
        <p:spPr>
          <a:xfrm>
            <a:off x="736681" y="6246713"/>
            <a:ext cx="2545195" cy="77986"/>
          </a:xfrm>
          <a:prstGeom prst="rect">
            <a:avLst/>
          </a:prstGeom>
          <a:noFill/>
          <a:ln/>
        </p:spPr>
        <p:txBody>
          <a:bodyPr wrap="none" lIns="0" tIns="0" rIns="0" bIns="0" rtlCol="0" anchor="t"/>
          <a:lstStyle/>
          <a:p>
            <a:pPr algn="l" indent="0" marL="0">
              <a:lnSpc>
                <a:spcPct val="94000"/>
              </a:lnSpc>
              <a:buNone/>
            </a:pPr>
            <a:r>
              <a:rPr lang="en-US" sz="500" dirty="0">
                <a:solidFill>
                  <a:srgbClr val="272525"/>
                </a:solidFill>
                <a:highlight>
                  <a:srgbClr val="F2F2F2"/>
                </a:highlight>
                <a:latin typeface="Consolas" pitchFamily="34" charset="0"/>
                <a:ea typeface="Consolas" pitchFamily="34" charset="-122"/>
                <a:cs typeface="Consolas" pitchFamily="34" charset="-120"/>
              </a:rPr>
              <a:t>--color-primario</a:t>
            </a:r>
            <a:pPr algn="l" indent="0" marL="0">
              <a:lnSpc>
                <a:spcPct val="94000"/>
              </a:lnSpc>
              <a:buNone/>
            </a:pPr>
            <a:r>
              <a:rPr lang="en-US" sz="500" dirty="0">
                <a:solidFill>
                  <a:srgbClr val="272525"/>
                </a:solidFill>
                <a:latin typeface="Inter" pitchFamily="34" charset="0"/>
                <a:ea typeface="Inter" pitchFamily="34" charset="-122"/>
                <a:cs typeface="Inter" pitchFamily="34" charset="-120"/>
              </a:rPr>
              <a:t> centraliza los colores del sitio</a:t>
            </a:r>
            <a:endParaRPr lang="en-US" sz="500" dirty="0"/>
          </a:p>
        </p:txBody>
      </p:sp>
      <p:sp>
        <p:nvSpPr>
          <p:cNvPr id="15" name="Shape 13"/>
          <p:cNvSpPr/>
          <p:nvPr/>
        </p:nvSpPr>
        <p:spPr>
          <a:xfrm>
            <a:off x="3385755" y="6046688"/>
            <a:ext cx="2695706" cy="353219"/>
          </a:xfrm>
          <a:prstGeom prst="roundRect">
            <a:avLst>
              <a:gd name="adj" fmla="val 8189"/>
            </a:avLst>
          </a:prstGeom>
          <a:solidFill>
            <a:srgbClr val="DADBF1"/>
          </a:solidFill>
          <a:ln w="6350">
            <a:solidFill>
              <a:srgbClr val="C0C1D7"/>
            </a:solidFill>
            <a:prstDash val="solid"/>
          </a:ln>
        </p:spPr>
      </p:sp>
      <p:sp>
        <p:nvSpPr>
          <p:cNvPr id="16" name="Text 14"/>
          <p:cNvSpPr/>
          <p:nvPr/>
        </p:nvSpPr>
        <p:spPr>
          <a:xfrm>
            <a:off x="3460961" y="6121896"/>
            <a:ext cx="2545294" cy="107652"/>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Flexbox</a:t>
            </a:r>
            <a:endParaRPr lang="en-US" sz="650" dirty="0"/>
          </a:p>
        </p:txBody>
      </p:sp>
      <p:sp>
        <p:nvSpPr>
          <p:cNvPr id="17" name="Text 15"/>
          <p:cNvSpPr/>
          <p:nvPr/>
        </p:nvSpPr>
        <p:spPr>
          <a:xfrm>
            <a:off x="3460961" y="6246713"/>
            <a:ext cx="2545294" cy="77986"/>
          </a:xfrm>
          <a:prstGeom prst="rect">
            <a:avLst/>
          </a:prstGeom>
          <a:noFill/>
          <a:ln/>
        </p:spPr>
        <p:txBody>
          <a:bodyPr wrap="none" lIns="0" tIns="0" rIns="0" bIns="0" rtlCol="0" anchor="t"/>
          <a:lstStyle/>
          <a:p>
            <a:pPr algn="l" indent="0" marL="0">
              <a:lnSpc>
                <a:spcPct val="94000"/>
              </a:lnSpc>
              <a:buNone/>
            </a:pPr>
            <a:r>
              <a:rPr lang="en-US" sz="500" dirty="0">
                <a:solidFill>
                  <a:srgbClr val="272525"/>
                </a:solidFill>
                <a:highlight>
                  <a:srgbClr val="F2F2F2"/>
                </a:highlight>
                <a:latin typeface="Consolas" pitchFamily="34" charset="0"/>
                <a:ea typeface="Consolas" pitchFamily="34" charset="-122"/>
                <a:cs typeface="Consolas" pitchFamily="34" charset="-120"/>
              </a:rPr>
              <a:t>display: flex</a:t>
            </a:r>
            <a:pPr algn="l" indent="0" marL="0">
              <a:lnSpc>
                <a:spcPct val="94000"/>
              </a:lnSpc>
              <a:buNone/>
            </a:pPr>
            <a:r>
              <a:rPr lang="en-US" sz="500" dirty="0">
                <a:solidFill>
                  <a:srgbClr val="272525"/>
                </a:solidFill>
                <a:latin typeface="Inter" pitchFamily="34" charset="0"/>
                <a:ea typeface="Inter" pitchFamily="34" charset="-122"/>
                <a:cs typeface="Inter" pitchFamily="34" charset="-120"/>
              </a:rPr>
              <a:t> alinea la barra de navegación</a:t>
            </a:r>
            <a:endParaRPr lang="en-US" sz="500" dirty="0"/>
          </a:p>
        </p:txBody>
      </p:sp>
      <p:sp>
        <p:nvSpPr>
          <p:cNvPr id="18" name="Shape 16"/>
          <p:cNvSpPr/>
          <p:nvPr/>
        </p:nvSpPr>
        <p:spPr>
          <a:xfrm>
            <a:off x="6110135" y="6046688"/>
            <a:ext cx="2695706" cy="353219"/>
          </a:xfrm>
          <a:prstGeom prst="roundRect">
            <a:avLst>
              <a:gd name="adj" fmla="val 8189"/>
            </a:avLst>
          </a:prstGeom>
          <a:solidFill>
            <a:srgbClr val="DADBF1"/>
          </a:solidFill>
          <a:ln w="6350">
            <a:solidFill>
              <a:srgbClr val="C0C1D7"/>
            </a:solidFill>
            <a:prstDash val="solid"/>
          </a:ln>
        </p:spPr>
      </p:sp>
      <p:sp>
        <p:nvSpPr>
          <p:cNvPr id="19" name="Text 17"/>
          <p:cNvSpPr/>
          <p:nvPr/>
        </p:nvSpPr>
        <p:spPr>
          <a:xfrm>
            <a:off x="6185341" y="6121896"/>
            <a:ext cx="2545294" cy="107652"/>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CSS Grid</a:t>
            </a:r>
            <a:endParaRPr lang="en-US" sz="650" dirty="0"/>
          </a:p>
        </p:txBody>
      </p:sp>
      <p:sp>
        <p:nvSpPr>
          <p:cNvPr id="20" name="Text 18"/>
          <p:cNvSpPr/>
          <p:nvPr/>
        </p:nvSpPr>
        <p:spPr>
          <a:xfrm>
            <a:off x="6185341" y="6246713"/>
            <a:ext cx="2545294" cy="77986"/>
          </a:xfrm>
          <a:prstGeom prst="rect">
            <a:avLst/>
          </a:prstGeom>
          <a:noFill/>
          <a:ln/>
        </p:spPr>
        <p:txBody>
          <a:bodyPr wrap="none" lIns="0" tIns="0" rIns="0" bIns="0" rtlCol="0" anchor="t"/>
          <a:lstStyle/>
          <a:p>
            <a:pPr algn="l" indent="0" marL="0">
              <a:lnSpc>
                <a:spcPct val="94000"/>
              </a:lnSpc>
              <a:buNone/>
            </a:pPr>
            <a:r>
              <a:rPr lang="en-US" sz="500" dirty="0">
                <a:solidFill>
                  <a:srgbClr val="272525"/>
                </a:solidFill>
                <a:highlight>
                  <a:srgbClr val="F2F2F2"/>
                </a:highlight>
                <a:latin typeface="Consolas" pitchFamily="34" charset="0"/>
                <a:ea typeface="Consolas" pitchFamily="34" charset="-122"/>
                <a:cs typeface="Consolas" pitchFamily="34" charset="-120"/>
              </a:rPr>
              <a:t>grid-template-columns</a:t>
            </a:r>
            <a:pPr algn="l" indent="0" marL="0">
              <a:lnSpc>
                <a:spcPct val="94000"/>
              </a:lnSpc>
              <a:buNone/>
            </a:pPr>
            <a:r>
              <a:rPr lang="en-US" sz="500" dirty="0">
                <a:solidFill>
                  <a:srgbClr val="272525"/>
                </a:solidFill>
                <a:latin typeface="Inter" pitchFamily="34" charset="0"/>
                <a:ea typeface="Inter" pitchFamily="34" charset="-122"/>
                <a:cs typeface="Inter" pitchFamily="34" charset="-120"/>
              </a:rPr>
              <a:t> crea columnas responsivas</a:t>
            </a:r>
            <a:endParaRPr lang="en-US" sz="500" dirty="0"/>
          </a:p>
        </p:txBody>
      </p:sp>
      <p:sp>
        <p:nvSpPr>
          <p:cNvPr id="21" name="Shape 19"/>
          <p:cNvSpPr/>
          <p:nvPr/>
        </p:nvSpPr>
        <p:spPr>
          <a:xfrm>
            <a:off x="8834514" y="6046688"/>
            <a:ext cx="2695706" cy="353219"/>
          </a:xfrm>
          <a:prstGeom prst="roundRect">
            <a:avLst>
              <a:gd name="adj" fmla="val 8189"/>
            </a:avLst>
          </a:prstGeom>
          <a:solidFill>
            <a:srgbClr val="DADBF1"/>
          </a:solidFill>
          <a:ln w="6350">
            <a:solidFill>
              <a:srgbClr val="C0C1D7"/>
            </a:solidFill>
            <a:prstDash val="solid"/>
          </a:ln>
        </p:spPr>
      </p:sp>
      <p:sp>
        <p:nvSpPr>
          <p:cNvPr id="22" name="Text 20"/>
          <p:cNvSpPr/>
          <p:nvPr/>
        </p:nvSpPr>
        <p:spPr>
          <a:xfrm>
            <a:off x="8909720" y="6121896"/>
            <a:ext cx="2545294" cy="107652"/>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Media Queries</a:t>
            </a:r>
            <a:endParaRPr lang="en-US" sz="650" dirty="0"/>
          </a:p>
        </p:txBody>
      </p:sp>
      <p:sp>
        <p:nvSpPr>
          <p:cNvPr id="23" name="Text 21"/>
          <p:cNvSpPr/>
          <p:nvPr/>
        </p:nvSpPr>
        <p:spPr>
          <a:xfrm>
            <a:off x="8909720" y="6246713"/>
            <a:ext cx="2545294" cy="77986"/>
          </a:xfrm>
          <a:prstGeom prst="rect">
            <a:avLst/>
          </a:prstGeom>
          <a:noFill/>
          <a:ln/>
        </p:spPr>
        <p:txBody>
          <a:bodyPr wrap="none" lIns="0" tIns="0" rIns="0" bIns="0" rtlCol="0" anchor="t"/>
          <a:lstStyle/>
          <a:p>
            <a:pPr algn="l" indent="0" marL="0">
              <a:lnSpc>
                <a:spcPct val="94000"/>
              </a:lnSpc>
              <a:buNone/>
            </a:pPr>
            <a:r>
              <a:rPr lang="en-US" sz="500" dirty="0">
                <a:solidFill>
                  <a:srgbClr val="272525"/>
                </a:solidFill>
                <a:highlight>
                  <a:srgbClr val="F2F2F2"/>
                </a:highlight>
                <a:latin typeface="Consolas" pitchFamily="34" charset="0"/>
                <a:ea typeface="Consolas" pitchFamily="34" charset="-122"/>
                <a:cs typeface="Consolas" pitchFamily="34" charset="-120"/>
              </a:rPr>
              <a:t>@media</a:t>
            </a:r>
            <a:pPr algn="l" indent="0" marL="0">
              <a:lnSpc>
                <a:spcPct val="94000"/>
              </a:lnSpc>
              <a:buNone/>
            </a:pPr>
            <a:r>
              <a:rPr lang="en-US" sz="500" dirty="0">
                <a:solidFill>
                  <a:srgbClr val="272525"/>
                </a:solidFill>
                <a:latin typeface="Inter" pitchFamily="34" charset="0"/>
                <a:ea typeface="Inter" pitchFamily="34" charset="-122"/>
                <a:cs typeface="Inter" pitchFamily="34" charset="-120"/>
              </a:rPr>
              <a:t> adapta el diseño a móviles</a:t>
            </a:r>
            <a:endParaRPr lang="en-US" sz="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79239"/>
            <a:ext cx="10868745" cy="425648"/>
          </a:xfrm>
          <a:prstGeom prst="rect">
            <a:avLst/>
          </a:prstGeom>
          <a:noFill/>
          <a:ln/>
        </p:spPr>
        <p:txBody>
          <a:bodyPr wrap="none" lIns="0" tIns="0" rIns="0" bIns="0" rtlCol="0" anchor="t"/>
          <a:lstStyle/>
          <a:p>
            <a:pPr algn="l" indent="0" marL="0">
              <a:lnSpc>
                <a:spcPct val="104000"/>
              </a:lnSpc>
              <a:buNone/>
            </a:pPr>
            <a:r>
              <a:rPr lang="en-US" sz="2650" b="1" dirty="0">
                <a:solidFill>
                  <a:srgbClr val="000000"/>
                </a:solidFill>
                <a:latin typeface="Inter Bold" pitchFamily="34" charset="0"/>
                <a:ea typeface="Inter Bold" pitchFamily="34" charset="-122"/>
                <a:cs typeface="Inter Bold" pitchFamily="34" charset="-120"/>
              </a:rPr>
              <a:t>Conclusión: El Impacto de CSS en el Diseño Web Actual</a:t>
            </a:r>
            <a:endParaRPr lang="en-US" sz="2650" dirty="0"/>
          </a:p>
        </p:txBody>
      </p:sp>
      <p:sp>
        <p:nvSpPr>
          <p:cNvPr id="3" name="Text 1"/>
          <p:cNvSpPr/>
          <p:nvPr/>
        </p:nvSpPr>
        <p:spPr>
          <a:xfrm>
            <a:off x="661475" y="1229122"/>
            <a:ext cx="10868745" cy="397272"/>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272525"/>
                </a:solidFill>
                <a:latin typeface="Inter" pitchFamily="34" charset="0"/>
                <a:ea typeface="Inter" pitchFamily="34" charset="-122"/>
                <a:cs typeface="Inter" pitchFamily="34" charset="-120"/>
              </a:rPr>
              <a:t>La evolución de CSS en casi tres décadas representa uno de los avances más significativos en la historia de la web. Lo que comenzó como una propuesta para separar contenido de presentación se ha convertido en un lenguaje poderoso y sofisticado que permite crear desde interfaces simples hasta aplicaciones web complejas.</a:t>
            </a:r>
            <a:endParaRPr lang="en-US" sz="1050" dirty="0"/>
          </a:p>
        </p:txBody>
      </p:sp>
      <p:sp>
        <p:nvSpPr>
          <p:cNvPr id="4" name="Text 2"/>
          <p:cNvSpPr/>
          <p:nvPr/>
        </p:nvSpPr>
        <p:spPr>
          <a:xfrm>
            <a:off x="1063797" y="1820565"/>
            <a:ext cx="4559583" cy="449461"/>
          </a:xfrm>
          <a:prstGeom prst="rect">
            <a:avLst/>
          </a:prstGeom>
          <a:noFill/>
          <a:ln/>
        </p:spPr>
        <p:txBody>
          <a:bodyPr wrap="none" lIns="0" tIns="0" rIns="0" bIns="0" rtlCol="0" anchor="t"/>
          <a:lstStyle/>
          <a:p>
            <a:pPr algn="ctr" indent="0" marL="0">
              <a:lnSpc>
                <a:spcPct val="83000"/>
              </a:lnSpc>
              <a:buNone/>
            </a:pPr>
            <a:r>
              <a:rPr lang="en-US" sz="3500" b="1" dirty="0">
                <a:solidFill>
                  <a:srgbClr val="272525"/>
                </a:solidFill>
                <a:latin typeface="Inter Bold" pitchFamily="34" charset="0"/>
                <a:ea typeface="Inter Bold" pitchFamily="34" charset="-122"/>
                <a:cs typeface="Inter Bold" pitchFamily="34" charset="-120"/>
              </a:rPr>
              <a:t>30+</a:t>
            </a:r>
            <a:endParaRPr lang="en-US" sz="3500" dirty="0"/>
          </a:p>
        </p:txBody>
      </p:sp>
      <p:sp>
        <p:nvSpPr>
          <p:cNvPr id="5" name="Text 3"/>
          <p:cNvSpPr/>
          <p:nvPr/>
        </p:nvSpPr>
        <p:spPr>
          <a:xfrm>
            <a:off x="661475" y="2422128"/>
            <a:ext cx="5364326" cy="212824"/>
          </a:xfrm>
          <a:prstGeom prst="rect">
            <a:avLst/>
          </a:prstGeom>
          <a:noFill/>
          <a:ln/>
        </p:spPr>
        <p:txBody>
          <a:bodyPr wrap="none" lIns="0" tIns="0" rIns="0" bIns="0" rtlCol="0" anchor="t"/>
          <a:lstStyle/>
          <a:p>
            <a:pPr algn="ctr"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Años de evolución</a:t>
            </a:r>
            <a:endParaRPr lang="en-US" sz="1300" dirty="0"/>
          </a:p>
        </p:txBody>
      </p:sp>
      <p:sp>
        <p:nvSpPr>
          <p:cNvPr id="6" name="Text 4"/>
          <p:cNvSpPr/>
          <p:nvPr/>
        </p:nvSpPr>
        <p:spPr>
          <a:xfrm>
            <a:off x="661475" y="2702223"/>
            <a:ext cx="5364326" cy="198636"/>
          </a:xfrm>
          <a:prstGeom prst="rect">
            <a:avLst/>
          </a:prstGeom>
          <a:noFill/>
          <a:ln/>
        </p:spPr>
        <p:txBody>
          <a:bodyPr wrap="none" lIns="0" tIns="0" rIns="0" bIns="0" rtlCol="0" anchor="t"/>
          <a:lstStyle/>
          <a:p>
            <a:pPr algn="ctr" indent="0" marL="0">
              <a:lnSpc>
                <a:spcPct val="122000"/>
              </a:lnSpc>
              <a:buNone/>
            </a:pPr>
            <a:r>
              <a:rPr lang="en-US" sz="1050" dirty="0">
                <a:solidFill>
                  <a:srgbClr val="272525"/>
                </a:solidFill>
                <a:latin typeface="Inter" pitchFamily="34" charset="0"/>
                <a:ea typeface="Inter" pitchFamily="34" charset="-122"/>
                <a:cs typeface="Inter" pitchFamily="34" charset="-120"/>
              </a:rPr>
              <a:t>Desde la propuesta de 1994 hasta los módulos CSS modernos de 2024</a:t>
            </a:r>
            <a:endParaRPr lang="en-US" sz="1050" dirty="0"/>
          </a:p>
        </p:txBody>
      </p:sp>
      <p:sp>
        <p:nvSpPr>
          <p:cNvPr id="7" name="Text 5"/>
          <p:cNvSpPr/>
          <p:nvPr/>
        </p:nvSpPr>
        <p:spPr>
          <a:xfrm>
            <a:off x="6568216" y="1820565"/>
            <a:ext cx="4559583" cy="449461"/>
          </a:xfrm>
          <a:prstGeom prst="rect">
            <a:avLst/>
          </a:prstGeom>
          <a:noFill/>
          <a:ln/>
        </p:spPr>
        <p:txBody>
          <a:bodyPr wrap="none" lIns="0" tIns="0" rIns="0" bIns="0" rtlCol="0" anchor="t"/>
          <a:lstStyle/>
          <a:p>
            <a:pPr algn="ctr" indent="0" marL="0">
              <a:lnSpc>
                <a:spcPct val="83000"/>
              </a:lnSpc>
              <a:buNone/>
            </a:pPr>
            <a:r>
              <a:rPr lang="en-US" sz="3500" b="1" dirty="0">
                <a:solidFill>
                  <a:srgbClr val="272525"/>
                </a:solidFill>
                <a:latin typeface="Inter Bold" pitchFamily="34" charset="0"/>
                <a:ea typeface="Inter Bold" pitchFamily="34" charset="-122"/>
                <a:cs typeface="Inter Bold" pitchFamily="34" charset="-120"/>
              </a:rPr>
              <a:t>90+</a:t>
            </a:r>
            <a:endParaRPr lang="en-US" sz="3500" dirty="0"/>
          </a:p>
        </p:txBody>
      </p:sp>
      <p:sp>
        <p:nvSpPr>
          <p:cNvPr id="8" name="Text 6"/>
          <p:cNvSpPr/>
          <p:nvPr/>
        </p:nvSpPr>
        <p:spPr>
          <a:xfrm>
            <a:off x="6165894" y="2422128"/>
            <a:ext cx="5364326" cy="212824"/>
          </a:xfrm>
          <a:prstGeom prst="rect">
            <a:avLst/>
          </a:prstGeom>
          <a:noFill/>
          <a:ln/>
        </p:spPr>
        <p:txBody>
          <a:bodyPr wrap="none" lIns="0" tIns="0" rIns="0" bIns="0" rtlCol="0" anchor="t"/>
          <a:lstStyle/>
          <a:p>
            <a:pPr algn="ctr"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Módulos CSS3</a:t>
            </a:r>
            <a:endParaRPr lang="en-US" sz="1300" dirty="0"/>
          </a:p>
        </p:txBody>
      </p:sp>
      <p:sp>
        <p:nvSpPr>
          <p:cNvPr id="9" name="Text 7"/>
          <p:cNvSpPr/>
          <p:nvPr/>
        </p:nvSpPr>
        <p:spPr>
          <a:xfrm>
            <a:off x="6165894" y="2702223"/>
            <a:ext cx="5364326" cy="198636"/>
          </a:xfrm>
          <a:prstGeom prst="rect">
            <a:avLst/>
          </a:prstGeom>
          <a:noFill/>
          <a:ln/>
        </p:spPr>
        <p:txBody>
          <a:bodyPr wrap="none" lIns="0" tIns="0" rIns="0" bIns="0" rtlCol="0" anchor="t"/>
          <a:lstStyle/>
          <a:p>
            <a:pPr algn="ctr" indent="0" marL="0">
              <a:lnSpc>
                <a:spcPct val="122000"/>
              </a:lnSpc>
              <a:buNone/>
            </a:pPr>
            <a:r>
              <a:rPr lang="en-US" sz="1050" dirty="0">
                <a:solidFill>
                  <a:srgbClr val="272525"/>
                </a:solidFill>
                <a:latin typeface="Inter" pitchFamily="34" charset="0"/>
                <a:ea typeface="Inter" pitchFamily="34" charset="-122"/>
                <a:cs typeface="Inter" pitchFamily="34" charset="-120"/>
              </a:rPr>
              <a:t>Especificaciones independientes que cubren cada aspecto del diseño web</a:t>
            </a:r>
            <a:endParaRPr lang="en-US" sz="1050" dirty="0"/>
          </a:p>
        </p:txBody>
      </p:sp>
      <p:sp>
        <p:nvSpPr>
          <p:cNvPr id="10" name="Text 8"/>
          <p:cNvSpPr/>
          <p:nvPr/>
        </p:nvSpPr>
        <p:spPr>
          <a:xfrm>
            <a:off x="1063797" y="3193157"/>
            <a:ext cx="4559583" cy="449461"/>
          </a:xfrm>
          <a:prstGeom prst="rect">
            <a:avLst/>
          </a:prstGeom>
          <a:noFill/>
          <a:ln/>
        </p:spPr>
        <p:txBody>
          <a:bodyPr wrap="none" lIns="0" tIns="0" rIns="0" bIns="0" rtlCol="0" anchor="t"/>
          <a:lstStyle/>
          <a:p>
            <a:pPr algn="ctr" indent="0" marL="0">
              <a:lnSpc>
                <a:spcPct val="83000"/>
              </a:lnSpc>
              <a:buNone/>
            </a:pPr>
            <a:r>
              <a:rPr lang="en-US" sz="3500" b="1" dirty="0">
                <a:solidFill>
                  <a:srgbClr val="272525"/>
                </a:solidFill>
                <a:latin typeface="Inter Bold" pitchFamily="34" charset="0"/>
                <a:ea typeface="Inter Bold" pitchFamily="34" charset="-122"/>
                <a:cs typeface="Inter Bold" pitchFamily="34" charset="-120"/>
              </a:rPr>
              <a:t>~98%</a:t>
            </a:r>
            <a:endParaRPr lang="en-US" sz="3500" dirty="0"/>
          </a:p>
        </p:txBody>
      </p:sp>
      <p:sp>
        <p:nvSpPr>
          <p:cNvPr id="11" name="Text 9"/>
          <p:cNvSpPr/>
          <p:nvPr/>
        </p:nvSpPr>
        <p:spPr>
          <a:xfrm>
            <a:off x="661475" y="3794720"/>
            <a:ext cx="5364326" cy="212824"/>
          </a:xfrm>
          <a:prstGeom prst="rect">
            <a:avLst/>
          </a:prstGeom>
          <a:noFill/>
          <a:ln/>
        </p:spPr>
        <p:txBody>
          <a:bodyPr wrap="none" lIns="0" tIns="0" rIns="0" bIns="0" rtlCol="0" anchor="t"/>
          <a:lstStyle/>
          <a:p>
            <a:pPr algn="ctr"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Adopción global</a:t>
            </a:r>
            <a:endParaRPr lang="en-US" sz="1300" dirty="0"/>
          </a:p>
        </p:txBody>
      </p:sp>
      <p:sp>
        <p:nvSpPr>
          <p:cNvPr id="12" name="Text 10"/>
          <p:cNvSpPr/>
          <p:nvPr/>
        </p:nvSpPr>
        <p:spPr>
          <a:xfrm>
            <a:off x="661475" y="4074815"/>
            <a:ext cx="5364326" cy="198636"/>
          </a:xfrm>
          <a:prstGeom prst="rect">
            <a:avLst/>
          </a:prstGeom>
          <a:noFill/>
          <a:ln/>
        </p:spPr>
        <p:txBody>
          <a:bodyPr wrap="none" lIns="0" tIns="0" rIns="0" bIns="0" rtlCol="0" anchor="t"/>
          <a:lstStyle/>
          <a:p>
            <a:pPr algn="ctr" indent="0" marL="0">
              <a:lnSpc>
                <a:spcPct val="122000"/>
              </a:lnSpc>
              <a:buNone/>
            </a:pPr>
            <a:r>
              <a:rPr lang="en-US" sz="1050" dirty="0">
                <a:solidFill>
                  <a:srgbClr val="272525"/>
                </a:solidFill>
                <a:latin typeface="Inter" pitchFamily="34" charset="0"/>
                <a:ea typeface="Inter" pitchFamily="34" charset="-122"/>
                <a:cs typeface="Inter" pitchFamily="34" charset="-120"/>
              </a:rPr>
              <a:t>Prácticamente todos los sitios web modernos utilizan CSS</a:t>
            </a:r>
            <a:endParaRPr lang="en-US" sz="1050" dirty="0"/>
          </a:p>
        </p:txBody>
      </p:sp>
      <p:sp>
        <p:nvSpPr>
          <p:cNvPr id="13" name="Text 11"/>
          <p:cNvSpPr/>
          <p:nvPr/>
        </p:nvSpPr>
        <p:spPr>
          <a:xfrm>
            <a:off x="6568216" y="3193157"/>
            <a:ext cx="4559583" cy="449461"/>
          </a:xfrm>
          <a:prstGeom prst="rect">
            <a:avLst/>
          </a:prstGeom>
          <a:noFill/>
          <a:ln/>
        </p:spPr>
        <p:txBody>
          <a:bodyPr wrap="none" lIns="0" tIns="0" rIns="0" bIns="0" rtlCol="0" anchor="t"/>
          <a:lstStyle/>
          <a:p>
            <a:pPr algn="ctr" indent="0" marL="0">
              <a:lnSpc>
                <a:spcPct val="83000"/>
              </a:lnSpc>
              <a:buNone/>
            </a:pPr>
            <a:r>
              <a:rPr lang="en-US" sz="3500" b="1" dirty="0">
                <a:solidFill>
                  <a:srgbClr val="272525"/>
                </a:solidFill>
                <a:latin typeface="Inter Bold" pitchFamily="34" charset="0"/>
                <a:ea typeface="Inter Bold" pitchFamily="34" charset="-122"/>
                <a:cs typeface="Inter Bold" pitchFamily="34" charset="-120"/>
              </a:rPr>
              <a:t>5</a:t>
            </a:r>
            <a:endParaRPr lang="en-US" sz="3500" dirty="0"/>
          </a:p>
        </p:txBody>
      </p:sp>
      <p:sp>
        <p:nvSpPr>
          <p:cNvPr id="14" name="Text 12"/>
          <p:cNvSpPr/>
          <p:nvPr/>
        </p:nvSpPr>
        <p:spPr>
          <a:xfrm>
            <a:off x="6165894" y="3794720"/>
            <a:ext cx="5364326" cy="212824"/>
          </a:xfrm>
          <a:prstGeom prst="rect">
            <a:avLst/>
          </a:prstGeom>
          <a:noFill/>
          <a:ln/>
        </p:spPr>
        <p:txBody>
          <a:bodyPr wrap="none" lIns="0" tIns="0" rIns="0" bIns="0" rtlCol="0" anchor="t"/>
          <a:lstStyle/>
          <a:p>
            <a:pPr algn="ctr"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Niveles de CSS</a:t>
            </a:r>
            <a:endParaRPr lang="en-US" sz="1300" dirty="0"/>
          </a:p>
        </p:txBody>
      </p:sp>
      <p:sp>
        <p:nvSpPr>
          <p:cNvPr id="15" name="Text 13"/>
          <p:cNvSpPr/>
          <p:nvPr/>
        </p:nvSpPr>
        <p:spPr>
          <a:xfrm>
            <a:off x="6165894" y="4074815"/>
            <a:ext cx="5364326" cy="198636"/>
          </a:xfrm>
          <a:prstGeom prst="rect">
            <a:avLst/>
          </a:prstGeom>
          <a:noFill/>
          <a:ln/>
        </p:spPr>
        <p:txBody>
          <a:bodyPr wrap="none" lIns="0" tIns="0" rIns="0" bIns="0" rtlCol="0" anchor="t"/>
          <a:lstStyle/>
          <a:p>
            <a:pPr algn="ctr" indent="0" marL="0">
              <a:lnSpc>
                <a:spcPct val="122000"/>
              </a:lnSpc>
              <a:buNone/>
            </a:pPr>
            <a:r>
              <a:rPr lang="en-US" sz="1050" dirty="0">
                <a:solidFill>
                  <a:srgbClr val="272525"/>
                </a:solidFill>
                <a:latin typeface="Inter" pitchFamily="34" charset="0"/>
                <a:ea typeface="Inter" pitchFamily="34" charset="-122"/>
                <a:cs typeface="Inter" pitchFamily="34" charset="-120"/>
              </a:rPr>
              <a:t>CSS1, CSS2, CSS2.1, CSS3 (módulos) y CSS4 (en desarrollo)</a:t>
            </a:r>
            <a:endParaRPr lang="en-US" sz="1050" dirty="0"/>
          </a:p>
        </p:txBody>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571" y="4403725"/>
            <a:ext cx="204187" cy="204192"/>
          </a:xfrm>
          <a:prstGeom prst="rect">
            <a:avLst/>
          </a:prstGeom>
        </p:spPr>
      </p:pic>
      <p:sp>
        <p:nvSpPr>
          <p:cNvPr id="17" name="Text 14"/>
          <p:cNvSpPr/>
          <p:nvPr/>
        </p:nvSpPr>
        <p:spPr>
          <a:xfrm>
            <a:off x="1103979" y="4399558"/>
            <a:ext cx="3087015" cy="212824"/>
          </a:xfrm>
          <a:prstGeom prst="rect">
            <a:avLst/>
          </a:prstGeom>
          <a:noFill/>
          <a:ln/>
        </p:spPr>
        <p:txBody>
          <a:bodyPr wrap="none" lIns="0" tIns="0" rIns="0" bIns="0" rtlCol="0" anchor="t"/>
          <a:lstStyle/>
          <a:p>
            <a:pPr algn="l"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Separación de responsabilidades</a:t>
            </a:r>
            <a:endParaRPr lang="en-US" sz="1300" dirty="0"/>
          </a:p>
        </p:txBody>
      </p:sp>
      <p:sp>
        <p:nvSpPr>
          <p:cNvPr id="18" name="Text 15"/>
          <p:cNvSpPr/>
          <p:nvPr/>
        </p:nvSpPr>
        <p:spPr>
          <a:xfrm>
            <a:off x="1103979" y="4679652"/>
            <a:ext cx="3087015" cy="794544"/>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272525"/>
                </a:solidFill>
                <a:latin typeface="Inter" pitchFamily="34" charset="0"/>
                <a:ea typeface="Inter" pitchFamily="34" charset="-122"/>
                <a:cs typeface="Inter" pitchFamily="34" charset="-120"/>
              </a:rPr>
              <a:t>La premisa original de Lie y Bos sigue vigente: HTML estructura, CSS presenta y JavaScript interactúa. Esta separación es la base del desarrollo web profesional moderno.</a:t>
            </a:r>
            <a:endParaRPr lang="en-US" sz="1050" dirty="0"/>
          </a:p>
        </p:txBody>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2184" y="4403725"/>
            <a:ext cx="204187" cy="204192"/>
          </a:xfrm>
          <a:prstGeom prst="rect">
            <a:avLst/>
          </a:prstGeom>
        </p:spPr>
      </p:pic>
      <p:sp>
        <p:nvSpPr>
          <p:cNvPr id="20" name="Text 16"/>
          <p:cNvSpPr/>
          <p:nvPr/>
        </p:nvSpPr>
        <p:spPr>
          <a:xfrm>
            <a:off x="4773592" y="4399558"/>
            <a:ext cx="3087015" cy="212824"/>
          </a:xfrm>
          <a:prstGeom prst="rect">
            <a:avLst/>
          </a:prstGeom>
          <a:noFill/>
          <a:ln/>
        </p:spPr>
        <p:txBody>
          <a:bodyPr wrap="none" lIns="0" tIns="0" rIns="0" bIns="0" rtlCol="0" anchor="t"/>
          <a:lstStyle/>
          <a:p>
            <a:pPr algn="l"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Diseño responsivo como estándar</a:t>
            </a:r>
            <a:endParaRPr lang="en-US" sz="1300" dirty="0"/>
          </a:p>
        </p:txBody>
      </p:sp>
      <p:sp>
        <p:nvSpPr>
          <p:cNvPr id="21" name="Text 17"/>
          <p:cNvSpPr/>
          <p:nvPr/>
        </p:nvSpPr>
        <p:spPr>
          <a:xfrm>
            <a:off x="4773592" y="4679652"/>
            <a:ext cx="3087015" cy="794544"/>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272525"/>
                </a:solidFill>
                <a:latin typeface="Inter" pitchFamily="34" charset="0"/>
                <a:ea typeface="Inter" pitchFamily="34" charset="-122"/>
                <a:cs typeface="Inter" pitchFamily="34" charset="-120"/>
              </a:rPr>
              <a:t>Gracias a Flexbox, Grid y Media Queries, crear sitios que funcionen en cualquier dispositivo ya no es un lujo, sino una expectativa básica del usuario moderno.</a:t>
            </a:r>
            <a:endParaRPr lang="en-US" sz="1050" dirty="0"/>
          </a:p>
        </p:txBody>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1797" y="4403725"/>
            <a:ext cx="204187" cy="204192"/>
          </a:xfrm>
          <a:prstGeom prst="rect">
            <a:avLst/>
          </a:prstGeom>
        </p:spPr>
      </p:pic>
      <p:sp>
        <p:nvSpPr>
          <p:cNvPr id="23" name="Text 18"/>
          <p:cNvSpPr/>
          <p:nvPr/>
        </p:nvSpPr>
        <p:spPr>
          <a:xfrm>
            <a:off x="8443205" y="4399558"/>
            <a:ext cx="3087015" cy="212824"/>
          </a:xfrm>
          <a:prstGeom prst="rect">
            <a:avLst/>
          </a:prstGeom>
          <a:noFill/>
          <a:ln/>
        </p:spPr>
        <p:txBody>
          <a:bodyPr wrap="none" lIns="0" tIns="0" rIns="0" bIns="0" rtlCol="0" anchor="t"/>
          <a:lstStyle/>
          <a:p>
            <a:pPr algn="l" indent="0" marL="0">
              <a:lnSpc>
                <a:spcPct val="104000"/>
              </a:lnSpc>
              <a:buNone/>
            </a:pPr>
            <a:r>
              <a:rPr lang="en-US" sz="1300" b="1" dirty="0">
                <a:solidFill>
                  <a:srgbClr val="272525"/>
                </a:solidFill>
                <a:latin typeface="Inter Bold" pitchFamily="34" charset="0"/>
                <a:ea typeface="Inter Bold" pitchFamily="34" charset="-122"/>
                <a:cs typeface="Inter Bold" pitchFamily="34" charset="-120"/>
              </a:rPr>
              <a:t>El futuro: CSS Houdini y más allá</a:t>
            </a:r>
            <a:endParaRPr lang="en-US" sz="1300" dirty="0"/>
          </a:p>
        </p:txBody>
      </p:sp>
      <p:sp>
        <p:nvSpPr>
          <p:cNvPr id="24" name="Text 19"/>
          <p:cNvSpPr/>
          <p:nvPr/>
        </p:nvSpPr>
        <p:spPr>
          <a:xfrm>
            <a:off x="8443205" y="4679652"/>
            <a:ext cx="3087015" cy="794544"/>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272525"/>
                </a:solidFill>
                <a:latin typeface="Inter" pitchFamily="34" charset="0"/>
                <a:ea typeface="Inter" pitchFamily="34" charset="-122"/>
                <a:cs typeface="Inter" pitchFamily="34" charset="-120"/>
              </a:rPr>
              <a:t>El W3C trabaja en CSS Houdini, que permitirá a los desarrolladores extender CSS con JavaScript, creando propiedades y funciones personalizadas. La evolución continúa.</a:t>
            </a:r>
            <a:endParaRPr lang="en-US" sz="1050" dirty="0"/>
          </a:p>
        </p:txBody>
      </p:sp>
      <p:sp>
        <p:nvSpPr>
          <p:cNvPr id="25" name="Shape 20"/>
          <p:cNvSpPr/>
          <p:nvPr/>
        </p:nvSpPr>
        <p:spPr>
          <a:xfrm>
            <a:off x="661475" y="5600303"/>
            <a:ext cx="10868745" cy="678359"/>
          </a:xfrm>
          <a:prstGeom prst="roundRect">
            <a:avLst>
              <a:gd name="adj" fmla="val 8432"/>
            </a:avLst>
          </a:prstGeom>
          <a:solidFill>
            <a:srgbClr val="B6FCB8"/>
          </a:solidFill>
          <a:ln/>
        </p:spPr>
      </p:sp>
      <p:pic>
        <p:nvPicPr>
          <p:cNvPr id="26" name="Image 3" descr="preencoded.png">    </p:cNvPr>
          <p:cNvPicPr>
            <a:picLocks noChangeAspect="1"/>
          </p:cNvPicPr>
          <p:nvPr/>
        </p:nvPicPr>
        <p:blipFill>
          <a:blip r:embed="rId7"/>
          <a:stretch>
            <a:fillRect/>
          </a:stretch>
        </p:blipFill>
        <p:spPr>
          <a:xfrm>
            <a:off x="797600" y="5784652"/>
            <a:ext cx="170156" cy="136128"/>
          </a:xfrm>
          <a:prstGeom prst="rect">
            <a:avLst/>
          </a:prstGeom>
        </p:spPr>
      </p:pic>
      <p:sp>
        <p:nvSpPr>
          <p:cNvPr id="27" name="Text 21"/>
          <p:cNvSpPr/>
          <p:nvPr/>
        </p:nvSpPr>
        <p:spPr>
          <a:xfrm>
            <a:off x="1103880" y="5746452"/>
            <a:ext cx="10290215" cy="397272"/>
          </a:xfrm>
          <a:prstGeom prst="rect">
            <a:avLst/>
          </a:prstGeom>
          <a:noFill/>
          <a:ln/>
        </p:spPr>
        <p:txBody>
          <a:bodyPr wrap="square" lIns="0" tIns="0" rIns="0" bIns="0" rtlCol="0" anchor="t">
            <a:normAutofit/>
          </a:bodyPr>
          <a:lstStyle/>
          <a:p>
            <a:pPr algn="l" indent="0" marL="0">
              <a:lnSpc>
                <a:spcPct val="122000"/>
              </a:lnSpc>
              <a:buNone/>
            </a:pPr>
            <a:r>
              <a:rPr lang="en-US" sz="1050" b="1" dirty="0">
                <a:solidFill>
                  <a:srgbClr val="000000"/>
                </a:solidFill>
                <a:latin typeface="Inter Bold" pitchFamily="34" charset="0"/>
                <a:ea typeface="Inter Bold" pitchFamily="34" charset="-122"/>
                <a:cs typeface="Inter Bold" pitchFamily="34" charset="-120"/>
              </a:rPr>
              <a:t>Para los estudiantes del SENA:</a:t>
            </a:r>
            <a:pPr algn="l" indent="0" marL="0">
              <a:lnSpc>
                <a:spcPct val="122000"/>
              </a:lnSpc>
              <a:buNone/>
            </a:pPr>
            <a:r>
              <a:rPr lang="en-US" sz="1050" dirty="0">
                <a:solidFill>
                  <a:srgbClr val="000000"/>
                </a:solidFill>
                <a:latin typeface="Inter" pitchFamily="34" charset="0"/>
                <a:ea typeface="Inter" pitchFamily="34" charset="-122"/>
                <a:cs typeface="Inter" pitchFamily="34" charset="-120"/>
              </a:rPr>
              <a:t> Dominar CSS es una de las habilidades más valoradas en el mercado laboral del desarrollo web. Practicad con proyectos reales, explorad las herramientas de desarrollo del navegador y manteneos actualizados con los nuevos módulos CSS que se publican continuamente.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2026-07-29T01:31:59Z</dcterms:created>
  <dcterms:modified xsi:type="dcterms:W3CDTF">2026-07-29T01:31:59Z</dcterms:modified>
</cp:coreProperties>
</file>